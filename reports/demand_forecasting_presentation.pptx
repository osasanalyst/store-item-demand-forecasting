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660"/>
  </p:normalViewPr>
  <p:slideViewPr>
    <p:cSldViewPr snapToGrid="0">
      <p:cViewPr varScale="1">
        <p:scale>
          <a:sx n="79" d="100"/>
          <a:sy n="79" d="100"/>
        </p:scale>
        <p:origin x="16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21075E9-1FC6-41B7-8BD2-A254F3642533}"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1418592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1075E9-1FC6-41B7-8BD2-A254F3642533}"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411609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1075E9-1FC6-41B7-8BD2-A254F3642533}"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979050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21075E9-1FC6-41B7-8BD2-A254F3642533}"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2339195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21075E9-1FC6-41B7-8BD2-A254F3642533}"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2463648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21075E9-1FC6-41B7-8BD2-A254F3642533}"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1563198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1075E9-1FC6-41B7-8BD2-A254F3642533}"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1159702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1075E9-1FC6-41B7-8BD2-A254F3642533}"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411184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1075E9-1FC6-41B7-8BD2-A254F3642533}"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2138800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1075E9-1FC6-41B7-8BD2-A254F3642533}"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2531307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1075E9-1FC6-41B7-8BD2-A254F3642533}"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58D1-2B39-4D0F-B3DD-F480358B63C0}" type="slidenum">
              <a:rPr lang="en-US" smtClean="0"/>
              <a:t>‹#›</a:t>
            </a:fld>
            <a:endParaRPr lang="en-US"/>
          </a:p>
        </p:txBody>
      </p:sp>
    </p:spTree>
    <p:extLst>
      <p:ext uri="{BB962C8B-B14F-4D97-AF65-F5344CB8AC3E}">
        <p14:creationId xmlns:p14="http://schemas.microsoft.com/office/powerpoint/2010/main" val="398669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075E9-1FC6-41B7-8BD2-A254F3642533}" type="datetimeFigureOut">
              <a:rPr lang="en-US" smtClean="0"/>
              <a:t>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9158D1-2B39-4D0F-B3DD-F480358B63C0}" type="slidenum">
              <a:rPr lang="en-US" smtClean="0"/>
              <a:t>‹#›</a:t>
            </a:fld>
            <a:endParaRPr lang="en-US"/>
          </a:p>
        </p:txBody>
      </p:sp>
    </p:spTree>
    <p:extLst>
      <p:ext uri="{BB962C8B-B14F-4D97-AF65-F5344CB8AC3E}">
        <p14:creationId xmlns:p14="http://schemas.microsoft.com/office/powerpoint/2010/main" val="4198396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4.xml"/><Relationship Id="rId7"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6.xml"/><Relationship Id="rId10" Type="http://schemas.openxmlformats.org/officeDocument/2006/relationships/slide" Target="slide13.xml"/><Relationship Id="rId4" Type="http://schemas.openxmlformats.org/officeDocument/2006/relationships/slide" Target="slide5.xml"/><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04" y="499872"/>
            <a:ext cx="11460480" cy="1121664"/>
          </a:xfrm>
        </p:spPr>
        <p:txBody>
          <a:bodyPr>
            <a:noAutofit/>
          </a:bodyPr>
          <a:lstStyle/>
          <a:p>
            <a:pPr algn="l"/>
            <a:r>
              <a:rPr lang="en-US" b="1" dirty="0" smtClean="0">
                <a:latin typeface="+mn-lt"/>
                <a:ea typeface="Microsoft Sans Serif" panose="020B0604020202020204" pitchFamily="34" charset="0"/>
                <a:cs typeface="Microsoft Sans Serif" panose="020B0604020202020204" pitchFamily="34" charset="0"/>
              </a:rPr>
              <a:t>DEMAND FORECASTING </a:t>
            </a:r>
            <a:endParaRPr lang="en-US" b="1" dirty="0">
              <a:latin typeface="+mn-lt"/>
              <a:ea typeface="Microsoft Sans Serif" panose="020B0604020202020204" pitchFamily="34" charset="0"/>
              <a:cs typeface="Microsoft Sans Serif" panose="020B0604020202020204" pitchFamily="34" charset="0"/>
            </a:endParaRPr>
          </a:p>
        </p:txBody>
      </p:sp>
      <p:sp>
        <p:nvSpPr>
          <p:cNvPr id="3" name="Subtitle 2"/>
          <p:cNvSpPr>
            <a:spLocks noGrp="1"/>
          </p:cNvSpPr>
          <p:nvPr>
            <p:ph type="subTitle" idx="1"/>
          </p:nvPr>
        </p:nvSpPr>
        <p:spPr>
          <a:xfrm>
            <a:off x="146304" y="1621536"/>
            <a:ext cx="8351520" cy="390144"/>
          </a:xfrm>
        </p:spPr>
        <p:txBody>
          <a:bodyPr>
            <a:normAutofit/>
          </a:bodyPr>
          <a:lstStyle/>
          <a:p>
            <a:pPr algn="l"/>
            <a:r>
              <a:rPr lang="en-US" sz="2000" b="1" dirty="0" smtClean="0"/>
              <a:t>Data-Driven Insights for Optimizing Inventory and Store Performance</a:t>
            </a:r>
            <a:endParaRPr lang="en-US" sz="2000" b="1" dirty="0"/>
          </a:p>
        </p:txBody>
      </p:sp>
      <p:sp>
        <p:nvSpPr>
          <p:cNvPr id="4" name="TextBox 3"/>
          <p:cNvSpPr txBox="1"/>
          <p:nvPr/>
        </p:nvSpPr>
        <p:spPr>
          <a:xfrm>
            <a:off x="146304" y="5230368"/>
            <a:ext cx="2974848" cy="369332"/>
          </a:xfrm>
          <a:prstGeom prst="rect">
            <a:avLst/>
          </a:prstGeom>
          <a:noFill/>
        </p:spPr>
        <p:txBody>
          <a:bodyPr wrap="square" rtlCol="0">
            <a:spAutoFit/>
          </a:bodyPr>
          <a:lstStyle/>
          <a:p>
            <a:r>
              <a:rPr lang="en-US" b="1" dirty="0" smtClean="0"/>
              <a:t>OSARETIN IDIAGBONMWEN</a:t>
            </a:r>
            <a:endParaRPr lang="en-US" b="1" dirty="0"/>
          </a:p>
        </p:txBody>
      </p:sp>
      <p:sp>
        <p:nvSpPr>
          <p:cNvPr id="5" name="TextBox 4"/>
          <p:cNvSpPr txBox="1"/>
          <p:nvPr/>
        </p:nvSpPr>
        <p:spPr>
          <a:xfrm>
            <a:off x="146304" y="5599700"/>
            <a:ext cx="1658112" cy="307777"/>
          </a:xfrm>
          <a:prstGeom prst="rect">
            <a:avLst/>
          </a:prstGeom>
          <a:noFill/>
        </p:spPr>
        <p:txBody>
          <a:bodyPr wrap="square" rtlCol="0">
            <a:spAutoFit/>
          </a:bodyPr>
          <a:lstStyle/>
          <a:p>
            <a:r>
              <a:rPr lang="en-US" sz="1400" b="1" dirty="0" smtClean="0"/>
              <a:t>OCTOBER 2025</a:t>
            </a:r>
            <a:endParaRPr lang="en-US" sz="1400" b="1" dirty="0"/>
          </a:p>
        </p:txBody>
      </p:sp>
    </p:spTree>
    <p:extLst>
      <p:ext uri="{BB962C8B-B14F-4D97-AF65-F5344CB8AC3E}">
        <p14:creationId xmlns:p14="http://schemas.microsoft.com/office/powerpoint/2010/main" val="10442905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672" y="352933"/>
            <a:ext cx="3380232" cy="561467"/>
          </a:xfrm>
        </p:spPr>
        <p:txBody>
          <a:bodyPr>
            <a:normAutofit/>
          </a:bodyPr>
          <a:lstStyle/>
          <a:p>
            <a:r>
              <a:rPr lang="en-US" sz="2800" b="1" dirty="0" smtClean="0">
                <a:latin typeface="+mn-lt"/>
              </a:rPr>
              <a:t>Table Of Content</a:t>
            </a:r>
            <a:endParaRPr lang="en-US" sz="2800" b="1" dirty="0">
              <a:latin typeface="+mn-lt"/>
            </a:endParaRPr>
          </a:p>
        </p:txBody>
      </p:sp>
      <p:sp>
        <p:nvSpPr>
          <p:cNvPr id="3" name="Content Placeholder 2"/>
          <p:cNvSpPr>
            <a:spLocks noGrp="1"/>
          </p:cNvSpPr>
          <p:nvPr>
            <p:ph idx="1"/>
          </p:nvPr>
        </p:nvSpPr>
        <p:spPr>
          <a:xfrm>
            <a:off x="423672" y="1094105"/>
            <a:ext cx="10515600" cy="3636391"/>
          </a:xfrm>
        </p:spPr>
        <p:txBody>
          <a:bodyPr>
            <a:normAutofit/>
          </a:bodyPr>
          <a:lstStyle/>
          <a:p>
            <a:pPr marL="457200" indent="-457200">
              <a:buFont typeface="+mj-lt"/>
              <a:buAutoNum type="arabicPeriod"/>
            </a:pPr>
            <a:r>
              <a:rPr lang="en-US" sz="2000" b="1" dirty="0" smtClean="0">
                <a:hlinkClick r:id="rId2" action="ppaction://hlinksldjump"/>
              </a:rPr>
              <a:t>Executive Summary</a:t>
            </a:r>
            <a:endParaRPr lang="en-US" sz="2000" b="1" dirty="0" smtClean="0"/>
          </a:p>
          <a:p>
            <a:pPr marL="457200" indent="-457200">
              <a:buFont typeface="+mj-lt"/>
              <a:buAutoNum type="arabicPeriod"/>
            </a:pPr>
            <a:r>
              <a:rPr lang="en-US" sz="2000" b="1" dirty="0" smtClean="0">
                <a:hlinkClick r:id="rId3" action="ppaction://hlinksldjump"/>
              </a:rPr>
              <a:t>Business Context</a:t>
            </a:r>
            <a:endParaRPr lang="en-US" sz="2000" b="1" dirty="0" smtClean="0"/>
          </a:p>
          <a:p>
            <a:pPr marL="457200" indent="-457200">
              <a:buFont typeface="+mj-lt"/>
              <a:buAutoNum type="arabicPeriod"/>
            </a:pPr>
            <a:r>
              <a:rPr lang="en-US" sz="2000" b="1" dirty="0" smtClean="0">
                <a:hlinkClick r:id="rId4" action="ppaction://hlinksldjump"/>
              </a:rPr>
              <a:t>Data Overview</a:t>
            </a:r>
            <a:endParaRPr lang="en-US" sz="2000" b="1" dirty="0" smtClean="0"/>
          </a:p>
          <a:p>
            <a:pPr marL="457200" indent="-457200">
              <a:buFont typeface="+mj-lt"/>
              <a:buAutoNum type="arabicPeriod"/>
            </a:pPr>
            <a:r>
              <a:rPr lang="en-US" sz="2000" b="1" dirty="0" smtClean="0">
                <a:hlinkClick r:id="rId5" action="ppaction://hlinksldjump"/>
              </a:rPr>
              <a:t>Modelling Approach</a:t>
            </a:r>
            <a:endParaRPr lang="en-US" sz="2000" b="1" dirty="0" smtClean="0"/>
          </a:p>
          <a:p>
            <a:pPr marL="457200" indent="-457200">
              <a:buFont typeface="+mj-lt"/>
              <a:buAutoNum type="arabicPeriod"/>
            </a:pPr>
            <a:r>
              <a:rPr lang="en-US" sz="2000" b="1" dirty="0" smtClean="0">
                <a:hlinkClick r:id="rId6" action="ppaction://hlinksldjump"/>
              </a:rPr>
              <a:t>Dashboard Overview</a:t>
            </a:r>
            <a:endParaRPr lang="en-US" sz="2000" b="1" dirty="0" smtClean="0"/>
          </a:p>
          <a:p>
            <a:pPr marL="457200" indent="-457200">
              <a:buFont typeface="+mj-lt"/>
              <a:buAutoNum type="arabicPeriod"/>
            </a:pPr>
            <a:r>
              <a:rPr lang="en-US" sz="2000" b="1" dirty="0" smtClean="0">
                <a:hlinkClick r:id="rId7" action="ppaction://hlinksldjump"/>
              </a:rPr>
              <a:t>Key Insights</a:t>
            </a:r>
            <a:endParaRPr lang="en-US" sz="2000" b="1" dirty="0" smtClean="0"/>
          </a:p>
          <a:p>
            <a:pPr marL="457200" indent="-457200">
              <a:buFont typeface="+mj-lt"/>
              <a:buAutoNum type="arabicPeriod"/>
            </a:pPr>
            <a:r>
              <a:rPr lang="en-US" sz="2000" b="1" dirty="0" smtClean="0">
                <a:hlinkClick r:id="rId8" action="ppaction://hlinksldjump"/>
              </a:rPr>
              <a:t>Recommendations</a:t>
            </a:r>
            <a:endParaRPr lang="en-US" sz="2000" b="1" dirty="0" smtClean="0"/>
          </a:p>
          <a:p>
            <a:pPr marL="457200" indent="-457200">
              <a:buFont typeface="+mj-lt"/>
              <a:buAutoNum type="arabicPeriod"/>
            </a:pPr>
            <a:r>
              <a:rPr lang="en-US" sz="2000" b="1" dirty="0" smtClean="0">
                <a:hlinkClick r:id="rId9" action="ppaction://hlinksldjump"/>
              </a:rPr>
              <a:t>Conclusion / Next Steps</a:t>
            </a:r>
            <a:endParaRPr lang="en-US" sz="2000" b="1" dirty="0" smtClean="0"/>
          </a:p>
          <a:p>
            <a:pPr marL="457200" indent="-457200">
              <a:buFont typeface="+mj-lt"/>
              <a:buAutoNum type="arabicPeriod"/>
            </a:pPr>
            <a:r>
              <a:rPr lang="en-US" sz="2000" b="1" dirty="0" smtClean="0">
                <a:hlinkClick r:id="rId10" action="ppaction://hlinksldjump"/>
              </a:rPr>
              <a:t>Appendix</a:t>
            </a:r>
            <a:endParaRPr lang="en-US" sz="2000" b="1" dirty="0" smtClean="0"/>
          </a:p>
        </p:txBody>
      </p:sp>
    </p:spTree>
    <p:extLst>
      <p:ext uri="{BB962C8B-B14F-4D97-AF65-F5344CB8AC3E}">
        <p14:creationId xmlns:p14="http://schemas.microsoft.com/office/powerpoint/2010/main" val="34181906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 y="194437"/>
            <a:ext cx="3209544" cy="537083"/>
          </a:xfrm>
        </p:spPr>
        <p:txBody>
          <a:bodyPr>
            <a:noAutofit/>
          </a:bodyPr>
          <a:lstStyle/>
          <a:p>
            <a:r>
              <a:rPr lang="en-US" sz="2800" b="1" dirty="0" smtClean="0">
                <a:latin typeface="+mn-lt"/>
              </a:rPr>
              <a:t>Executive Summary</a:t>
            </a:r>
            <a:endParaRPr lang="en-US" sz="2800" b="1" dirty="0">
              <a:latin typeface="+mn-lt"/>
            </a:endParaRPr>
          </a:p>
        </p:txBody>
      </p:sp>
      <p:sp>
        <p:nvSpPr>
          <p:cNvPr id="3" name="Content Placeholder 2"/>
          <p:cNvSpPr>
            <a:spLocks noGrp="1"/>
          </p:cNvSpPr>
          <p:nvPr>
            <p:ph idx="1"/>
          </p:nvPr>
        </p:nvSpPr>
        <p:spPr>
          <a:xfrm>
            <a:off x="216408" y="862457"/>
            <a:ext cx="11829288" cy="2990215"/>
          </a:xfrm>
        </p:spPr>
        <p:txBody>
          <a:bodyPr>
            <a:normAutofit/>
          </a:bodyPr>
          <a:lstStyle/>
          <a:p>
            <a:pPr marL="0" indent="0">
              <a:lnSpc>
                <a:spcPct val="100000"/>
              </a:lnSpc>
              <a:buNone/>
            </a:pPr>
            <a:r>
              <a:rPr lang="en-US" sz="1400" dirty="0" smtClean="0"/>
              <a:t>The core business problem facing our retail operations was financial uncertainty and operational friction, leading to lost capital and missed sales opportunities due to unreliable demand planning across </a:t>
            </a:r>
            <a:r>
              <a:rPr lang="en-US" sz="1400" b="1" dirty="0" smtClean="0"/>
              <a:t>10 distinct stores and 50 high-value product items</a:t>
            </a:r>
            <a:r>
              <a:rPr lang="en-US" sz="1400" dirty="0" smtClean="0"/>
              <a:t>. This situation created constant inventory imbalances - costly overstock in some locations and </a:t>
            </a:r>
            <a:r>
              <a:rPr lang="en-US" sz="1400" dirty="0" err="1" smtClean="0"/>
              <a:t>stockouts</a:t>
            </a:r>
            <a:r>
              <a:rPr lang="en-US" sz="1400" dirty="0" smtClean="0"/>
              <a:t> in others. Our clear objective was to move the entire operation from reactive guesswork to a </a:t>
            </a:r>
            <a:r>
              <a:rPr lang="en-US" sz="1400" b="1" dirty="0" smtClean="0"/>
              <a:t>proactive, predictive forecasting system</a:t>
            </a:r>
            <a:r>
              <a:rPr lang="en-US" sz="1400" dirty="0" smtClean="0"/>
              <a:t>.</a:t>
            </a:r>
          </a:p>
          <a:p>
            <a:pPr marL="0" indent="0">
              <a:lnSpc>
                <a:spcPct val="100000"/>
              </a:lnSpc>
              <a:buNone/>
            </a:pPr>
            <a:r>
              <a:rPr lang="en-US" sz="1400" dirty="0" smtClean="0"/>
              <a:t>To solve this, we didn't rely on a single model; instead, we engineered and rigorously benchmarked a comprehensive portfolio of eight machine learning and deep learning models against five years of historical sales data. This process identified the most robust predictors, specifically </a:t>
            </a:r>
            <a:r>
              <a:rPr lang="en-US" sz="1400" b="1" dirty="0" err="1" smtClean="0"/>
              <a:t>XGBoost</a:t>
            </a:r>
            <a:r>
              <a:rPr lang="en-US" sz="1400" b="1" dirty="0" smtClean="0"/>
              <a:t> and </a:t>
            </a:r>
            <a:r>
              <a:rPr lang="en-US" sz="1400" b="1" dirty="0" err="1" smtClean="0"/>
              <a:t>LightGBM</a:t>
            </a:r>
            <a:r>
              <a:rPr lang="en-US" sz="1400" dirty="0" smtClean="0"/>
              <a:t>, which were then strategically combined into a final, highly reliable </a:t>
            </a:r>
            <a:r>
              <a:rPr lang="en-US" sz="1400" b="1" dirty="0" smtClean="0"/>
              <a:t>Ensemble Model</a:t>
            </a:r>
            <a:r>
              <a:rPr lang="en-US" sz="1400" dirty="0" smtClean="0"/>
              <a:t>. This ensemble successfully forecasts demand with an excellent average error of only </a:t>
            </a:r>
            <a:r>
              <a:rPr lang="en-US" sz="1400" b="1" dirty="0" smtClean="0"/>
              <a:t>MAE 6.12 units</a:t>
            </a:r>
            <a:r>
              <a:rPr lang="en-US" sz="1400" dirty="0" smtClean="0"/>
              <a:t>, demonstrating a state-of-the-art capability to learn and predict complex, multi-item, multi-store dynamics.</a:t>
            </a:r>
          </a:p>
          <a:p>
            <a:pPr marL="0" indent="0">
              <a:lnSpc>
                <a:spcPct val="100000"/>
              </a:lnSpc>
              <a:buNone/>
            </a:pPr>
            <a:r>
              <a:rPr lang="en-US" sz="1400" dirty="0" smtClean="0"/>
              <a:t>The value of this project is immediate and tangible, providing the business with highly accurate forecasts for a total projected volume of </a:t>
            </a:r>
            <a:r>
              <a:rPr lang="en-US" sz="1400" b="1" dirty="0" smtClean="0"/>
              <a:t>$2.06 million</a:t>
            </a:r>
            <a:r>
              <a:rPr lang="en-US" sz="1400" dirty="0" smtClean="0"/>
              <a:t>, directly enabling management to allocate stock and capital with confidence. This project successfully shifts the inventory function from a cost center to a strategic advantage, drastically reducing waste and maximizing sales potential. Crucially, the final results are delivered via an interactive </a:t>
            </a:r>
            <a:r>
              <a:rPr lang="en-US" sz="1400" b="1" dirty="0" smtClean="0"/>
              <a:t>Power BI dashboard</a:t>
            </a:r>
            <a:r>
              <a:rPr lang="en-US" sz="1400" dirty="0" smtClean="0"/>
              <a:t>, ensuring every stakeholder - from the floor manager to the C-suite - has access to the insights needed for daily, proactive inventory planning.</a:t>
            </a:r>
            <a:endParaRPr lang="en-US" sz="1400" dirty="0"/>
          </a:p>
        </p:txBody>
      </p:sp>
    </p:spTree>
    <p:extLst>
      <p:ext uri="{BB962C8B-B14F-4D97-AF65-F5344CB8AC3E}">
        <p14:creationId xmlns:p14="http://schemas.microsoft.com/office/powerpoint/2010/main" val="4146553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206629"/>
            <a:ext cx="2831592" cy="537083"/>
          </a:xfrm>
        </p:spPr>
        <p:txBody>
          <a:bodyPr>
            <a:normAutofit/>
          </a:bodyPr>
          <a:lstStyle/>
          <a:p>
            <a:r>
              <a:rPr lang="en-US" sz="2800" b="1" dirty="0" smtClean="0">
                <a:latin typeface="+mn-lt"/>
              </a:rPr>
              <a:t>Business Context</a:t>
            </a:r>
            <a:endParaRPr lang="en-US" sz="2800" b="1" dirty="0">
              <a:latin typeface="+mn-lt"/>
            </a:endParaRPr>
          </a:p>
        </p:txBody>
      </p:sp>
      <p:sp>
        <p:nvSpPr>
          <p:cNvPr id="3" name="Content Placeholder 2"/>
          <p:cNvSpPr>
            <a:spLocks noGrp="1"/>
          </p:cNvSpPr>
          <p:nvPr>
            <p:ph idx="1"/>
          </p:nvPr>
        </p:nvSpPr>
        <p:spPr>
          <a:xfrm>
            <a:off x="289560" y="743712"/>
            <a:ext cx="11719560" cy="4815840"/>
          </a:xfrm>
        </p:spPr>
        <p:txBody>
          <a:bodyPr>
            <a:normAutofit/>
          </a:bodyPr>
          <a:lstStyle/>
          <a:p>
            <a:pPr marL="0" indent="0">
              <a:lnSpc>
                <a:spcPct val="100000"/>
              </a:lnSpc>
              <a:buNone/>
            </a:pPr>
            <a:r>
              <a:rPr lang="en-US" sz="1400" b="1" dirty="0" smtClean="0"/>
              <a:t>The Challenge of Uncertainty in Multi-Store Retail</a:t>
            </a:r>
            <a:endParaRPr lang="en-US" sz="1400" dirty="0" smtClean="0"/>
          </a:p>
          <a:p>
            <a:pPr marL="0" indent="0">
              <a:lnSpc>
                <a:spcPct val="100000"/>
              </a:lnSpc>
              <a:buNone/>
            </a:pPr>
            <a:r>
              <a:rPr lang="en-US" sz="1400" dirty="0" smtClean="0"/>
              <a:t>Our retail organization manages a complex supply chain spanning </a:t>
            </a:r>
            <a:r>
              <a:rPr lang="en-US" sz="1400" b="1" dirty="0" smtClean="0"/>
              <a:t>10 distinct store locations</a:t>
            </a:r>
            <a:r>
              <a:rPr lang="en-US" sz="1400" dirty="0" smtClean="0"/>
              <a:t> and tracking demand for </a:t>
            </a:r>
            <a:r>
              <a:rPr lang="en-US" sz="1400" b="1" dirty="0" smtClean="0"/>
              <a:t>50 core product items</a:t>
            </a:r>
            <a:r>
              <a:rPr lang="en-US" sz="1400" dirty="0" smtClean="0"/>
              <a:t>. In this environment, effective inventory management is not merely a logistical task, it is a direct driver of profit margin. Currently, the business relies heavily on historical averages and manager intuition, which creates a critical imbalance in the system. This results in the costly scenario where high-demand items frequently experience </a:t>
            </a:r>
            <a:r>
              <a:rPr lang="en-US" sz="1400" b="1" dirty="0" err="1" smtClean="0"/>
              <a:t>stockouts</a:t>
            </a:r>
            <a:r>
              <a:rPr lang="en-US" sz="1400" dirty="0" smtClean="0"/>
              <a:t> in some locations, leading directly to lost sales and poor customer experience. Simultaneously, other stores accumulate slow-moving inventory, resulting in high </a:t>
            </a:r>
            <a:r>
              <a:rPr lang="en-US" sz="1400" b="1" dirty="0" smtClean="0"/>
              <a:t>overstocking costs, product waste, and inefficient allocation of working capital</a:t>
            </a:r>
            <a:r>
              <a:rPr lang="en-US" sz="1400" dirty="0" smtClean="0"/>
              <a:t>. This inherent uncertainty makes promotion planning, logistics, and procurement difficult, essentially leaving millions of dollars of potential revenue reliant on guesswork rather than data-driven insight.</a:t>
            </a:r>
          </a:p>
          <a:p>
            <a:pPr marL="0" indent="0">
              <a:lnSpc>
                <a:spcPct val="100000"/>
              </a:lnSpc>
              <a:buNone/>
            </a:pPr>
            <a:r>
              <a:rPr lang="en-US" sz="1400" b="1" dirty="0" smtClean="0"/>
              <a:t>Why Predictive Forecasting is Critical for Margin Improvement</a:t>
            </a:r>
            <a:endParaRPr lang="en-US" sz="1400" dirty="0" smtClean="0"/>
          </a:p>
          <a:p>
            <a:pPr marL="0" indent="0">
              <a:lnSpc>
                <a:spcPct val="100000"/>
              </a:lnSpc>
              <a:buNone/>
            </a:pPr>
            <a:r>
              <a:rPr lang="en-US" sz="1400" dirty="0" smtClean="0"/>
              <a:t>Moving beyond reactive decision-making is essential for sustainable growth. Accurate, predictive demand forecasting is the critical tool required to align our stock levels precisely with customer buying behavior, store by store and item by item. By anticipating future demand, we can dramatically reduce the financial drain caused by both </a:t>
            </a:r>
            <a:r>
              <a:rPr lang="en-US" sz="1400" dirty="0" err="1" smtClean="0"/>
              <a:t>stockouts</a:t>
            </a:r>
            <a:r>
              <a:rPr lang="en-US" sz="1400" dirty="0" smtClean="0"/>
              <a:t> and overstock. This capability allows the procurement team to negotiate better volume discounts, ensures the logistics network is optimized for actual need, and ultimately supports a healthier, more predictable </a:t>
            </a:r>
            <a:r>
              <a:rPr lang="en-US" sz="1400" b="1" dirty="0" smtClean="0"/>
              <a:t>profit margin</a:t>
            </a:r>
            <a:r>
              <a:rPr lang="en-US" sz="1400" dirty="0" smtClean="0"/>
              <a:t>. Essentially, forecasting transforms inventory management from a necessary operational expense into a </a:t>
            </a:r>
            <a:r>
              <a:rPr lang="en-US" sz="1400" b="1" dirty="0" smtClean="0"/>
              <a:t>strategic lever for capital efficiency</a:t>
            </a:r>
            <a:r>
              <a:rPr lang="en-US" sz="1400" dirty="0" smtClean="0"/>
              <a:t>.</a:t>
            </a:r>
          </a:p>
          <a:p>
            <a:pPr marL="0" indent="0">
              <a:lnSpc>
                <a:spcPct val="100000"/>
              </a:lnSpc>
              <a:buNone/>
            </a:pPr>
            <a:r>
              <a:rPr lang="en-US" sz="1400" b="1" dirty="0" smtClean="0"/>
              <a:t>The Data-Driven Resolution</a:t>
            </a:r>
            <a:endParaRPr lang="en-US" sz="1400" dirty="0" smtClean="0"/>
          </a:p>
          <a:p>
            <a:pPr marL="0" indent="0">
              <a:lnSpc>
                <a:spcPct val="100000"/>
              </a:lnSpc>
              <a:buNone/>
            </a:pPr>
            <a:r>
              <a:rPr lang="en-US" sz="1400" dirty="0" smtClean="0"/>
              <a:t>The complexity of daily, multi-item, multi-store demand patterns is too high for traditional methods. To meet this challenge, we must leverage the power of advanced analytics. The volume of historical data, which tracks sales, seasonality, and location-specific trends, is perfectly suited for machine learning models. By framing this challenge as a supervised learning problem, we can train models - like </a:t>
            </a:r>
            <a:r>
              <a:rPr lang="en-US" sz="1400" b="1" dirty="0" err="1" smtClean="0"/>
              <a:t>XGBoost</a:t>
            </a:r>
            <a:r>
              <a:rPr lang="en-US" sz="1400" b="1" dirty="0" smtClean="0"/>
              <a:t> and </a:t>
            </a:r>
            <a:r>
              <a:rPr lang="en-US" sz="1400" b="1" dirty="0" err="1" smtClean="0"/>
              <a:t>LightGBM</a:t>
            </a:r>
            <a:r>
              <a:rPr lang="en-US" sz="1400" dirty="0"/>
              <a:t> </a:t>
            </a:r>
            <a:r>
              <a:rPr lang="en-US" sz="1400" dirty="0" smtClean="0"/>
              <a:t>- to learn the underlying non-linear patterns. This approach allows us to deliver accurate, store-item-level forecasts, effectively replacing intuition with a quantifiable, data-driven prediction engine that will guide the business forward.</a:t>
            </a:r>
          </a:p>
        </p:txBody>
      </p:sp>
    </p:spTree>
    <p:extLst>
      <p:ext uri="{BB962C8B-B14F-4D97-AF65-F5344CB8AC3E}">
        <p14:creationId xmlns:p14="http://schemas.microsoft.com/office/powerpoint/2010/main" val="450734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368" y="145669"/>
            <a:ext cx="2514600" cy="561467"/>
          </a:xfrm>
        </p:spPr>
        <p:txBody>
          <a:bodyPr>
            <a:normAutofit/>
          </a:bodyPr>
          <a:lstStyle/>
          <a:p>
            <a:r>
              <a:rPr lang="en-US" sz="2800" b="1" dirty="0" smtClean="0">
                <a:latin typeface="+mn-lt"/>
              </a:rPr>
              <a:t>Data Overview</a:t>
            </a:r>
            <a:endParaRPr lang="en-US" sz="2800" b="1" dirty="0">
              <a:latin typeface="+mn-lt"/>
            </a:endParaRPr>
          </a:p>
        </p:txBody>
      </p:sp>
      <p:sp>
        <p:nvSpPr>
          <p:cNvPr id="5" name="Content Placeholder 4"/>
          <p:cNvSpPr>
            <a:spLocks noGrp="1"/>
          </p:cNvSpPr>
          <p:nvPr>
            <p:ph idx="1"/>
          </p:nvPr>
        </p:nvSpPr>
        <p:spPr>
          <a:xfrm>
            <a:off x="277368" y="707136"/>
            <a:ext cx="11707368" cy="1231392"/>
          </a:xfrm>
        </p:spPr>
        <p:txBody>
          <a:bodyPr>
            <a:normAutofit fontScale="62500" lnSpcReduction="20000"/>
          </a:bodyPr>
          <a:lstStyle/>
          <a:p>
            <a:pPr marL="0" lvl="0" indent="0" eaLnBrk="0" fontAlgn="base" hangingPunct="0">
              <a:lnSpc>
                <a:spcPct val="120000"/>
              </a:lnSpc>
              <a:spcBef>
                <a:spcPct val="0"/>
              </a:spcBef>
              <a:spcAft>
                <a:spcPct val="0"/>
              </a:spcAft>
              <a:buNone/>
            </a:pPr>
            <a:r>
              <a:rPr lang="en-US" altLang="en-US" sz="2200" dirty="0"/>
              <a:t>Our forecasting model is built upon a robust, five-year historical dataset of daily sales transactions, spanning January 1, 2013, through December 31, 2017. This extensive time-series data was aggregated from multiple internal retail databases, capturing sales activity across all </a:t>
            </a:r>
            <a:r>
              <a:rPr lang="en-US" altLang="en-US" sz="2200" b="1" dirty="0"/>
              <a:t>10 store locations</a:t>
            </a:r>
            <a:r>
              <a:rPr lang="en-US" altLang="en-US" sz="2200" dirty="0"/>
              <a:t> and for </a:t>
            </a:r>
            <a:r>
              <a:rPr lang="en-US" altLang="en-US" sz="2200" b="1" dirty="0"/>
              <a:t>50 distinct product items</a:t>
            </a:r>
            <a:r>
              <a:rPr lang="en-US" altLang="en-US" sz="2200" dirty="0"/>
              <a:t>. The raw data is fundamentally structured by four critical fields: </a:t>
            </a:r>
            <a:r>
              <a:rPr lang="en-US" altLang="en-US" sz="2200" b="1" dirty="0"/>
              <a:t>Store</a:t>
            </a:r>
            <a:r>
              <a:rPr lang="en-US" altLang="en-US" sz="2200" dirty="0"/>
              <a:t>, </a:t>
            </a:r>
            <a:r>
              <a:rPr lang="en-US" altLang="en-US" sz="2200" b="1" dirty="0"/>
              <a:t>Item</a:t>
            </a:r>
            <a:r>
              <a:rPr lang="en-US" altLang="en-US" sz="2200" dirty="0"/>
              <a:t>, </a:t>
            </a:r>
            <a:r>
              <a:rPr lang="en-US" altLang="en-US" sz="2200" b="1" dirty="0"/>
              <a:t>Date</a:t>
            </a:r>
            <a:r>
              <a:rPr lang="en-US" altLang="en-US" sz="2200" dirty="0"/>
              <a:t>, and </a:t>
            </a:r>
            <a:r>
              <a:rPr lang="en-US" altLang="en-US" sz="2200" b="1" dirty="0"/>
              <a:t>Sales</a:t>
            </a:r>
            <a:r>
              <a:rPr lang="en-US" altLang="en-US" sz="2200" dirty="0"/>
              <a:t>. This structure allows us to capture the complex, granular relationship between a specific location, a specific product, and the precise daily demand realized over five full business cycles, providing the necessary temporal and cross-sectional detail for accurate prediction</a:t>
            </a:r>
            <a:r>
              <a:rPr lang="en-US" altLang="en-US" sz="2200" dirty="0" smtClean="0"/>
              <a: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32" y="2046763"/>
            <a:ext cx="2791215" cy="2049749"/>
          </a:xfrm>
          <a:prstGeom prst="rect">
            <a:avLst/>
          </a:prstGeom>
        </p:spPr>
      </p:pic>
      <p:sp>
        <p:nvSpPr>
          <p:cNvPr id="7" name="TextBox 6"/>
          <p:cNvSpPr txBox="1"/>
          <p:nvPr/>
        </p:nvSpPr>
        <p:spPr>
          <a:xfrm>
            <a:off x="3304032" y="2499995"/>
            <a:ext cx="8680704" cy="1600438"/>
          </a:xfrm>
          <a:prstGeom prst="rect">
            <a:avLst/>
          </a:prstGeom>
          <a:noFill/>
        </p:spPr>
        <p:txBody>
          <a:bodyPr wrap="square" rtlCol="0">
            <a:spAutoFit/>
          </a:bodyPr>
          <a:lstStyle/>
          <a:p>
            <a:r>
              <a:rPr lang="en-US" sz="1400" dirty="0" smtClean="0"/>
              <a:t>The process of transforming this raw sales history into a high-performance predictive foundation required extensive data preparation. We began with rigorous </a:t>
            </a:r>
            <a:r>
              <a:rPr lang="en-US" sz="1400" b="1" dirty="0" smtClean="0"/>
              <a:t>cleaning and handling of missing values</a:t>
            </a:r>
            <a:r>
              <a:rPr lang="en-US" sz="1400" dirty="0" smtClean="0"/>
              <a:t> to ensure data integrity across all time steps and store-item combinations. The most critical step was </a:t>
            </a:r>
            <a:r>
              <a:rPr lang="en-US" sz="1400" b="1" dirty="0" smtClean="0"/>
              <a:t>feature engineering</a:t>
            </a:r>
            <a:r>
              <a:rPr lang="en-US" sz="1400" dirty="0" smtClean="0"/>
              <a:t>, where we created powerful new predictors from the time-series itself. This included generating </a:t>
            </a:r>
            <a:r>
              <a:rPr lang="en-US" sz="1400" b="1" dirty="0" smtClean="0"/>
              <a:t>lag features</a:t>
            </a:r>
            <a:r>
              <a:rPr lang="en-US" sz="1400" dirty="0" smtClean="0"/>
              <a:t> to directly capture the influence of sales from the immediate and distant past, as well as calculating </a:t>
            </a:r>
            <a:r>
              <a:rPr lang="en-US" sz="1400" b="1" dirty="0" smtClean="0"/>
              <a:t>rolling averages</a:t>
            </a:r>
            <a:r>
              <a:rPr lang="en-US" sz="1400" dirty="0" smtClean="0"/>
              <a:t> to effectively isolate underlying sales trends and cyclical seasonality. This systematic approach ensured complete consistency across both the time dimension and the store-item hierarchy, resulting in a dense, highly informative dataset.</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4511" y="4452432"/>
            <a:ext cx="9850225" cy="1781424"/>
          </a:xfrm>
          <a:prstGeom prst="rect">
            <a:avLst/>
          </a:prstGeom>
        </p:spPr>
      </p:pic>
    </p:spTree>
    <p:extLst>
      <p:ext uri="{BB962C8B-B14F-4D97-AF65-F5344CB8AC3E}">
        <p14:creationId xmlns:p14="http://schemas.microsoft.com/office/powerpoint/2010/main" val="28810904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 y="279781"/>
            <a:ext cx="3416808" cy="524891"/>
          </a:xfrm>
        </p:spPr>
        <p:txBody>
          <a:bodyPr>
            <a:normAutofit/>
          </a:bodyPr>
          <a:lstStyle/>
          <a:p>
            <a:r>
              <a:rPr lang="en-US" sz="2800" b="1" dirty="0" smtClean="0">
                <a:latin typeface="+mn-lt"/>
              </a:rPr>
              <a:t>Modelling Approach</a:t>
            </a:r>
            <a:endParaRPr lang="en-US" sz="2800" b="1" dirty="0">
              <a:latin typeface="+mn-lt"/>
            </a:endParaRPr>
          </a:p>
        </p:txBody>
      </p:sp>
      <p:sp>
        <p:nvSpPr>
          <p:cNvPr id="3" name="Content Placeholder 2"/>
          <p:cNvSpPr>
            <a:spLocks noGrp="1"/>
          </p:cNvSpPr>
          <p:nvPr>
            <p:ph idx="1"/>
          </p:nvPr>
        </p:nvSpPr>
        <p:spPr>
          <a:xfrm>
            <a:off x="265176" y="804672"/>
            <a:ext cx="11719560" cy="5876544"/>
          </a:xfrm>
        </p:spPr>
        <p:txBody>
          <a:bodyPr>
            <a:normAutofit/>
          </a:bodyPr>
          <a:lstStyle/>
          <a:p>
            <a:pPr marL="0" indent="0">
              <a:buNone/>
            </a:pPr>
            <a:r>
              <a:rPr lang="en-US" sz="1400" b="1" dirty="0" smtClean="0"/>
              <a:t>The Multi-Model Strategy for Reliability</a:t>
            </a:r>
            <a:endParaRPr lang="en-US" sz="1400" dirty="0" smtClean="0"/>
          </a:p>
          <a:p>
            <a:pPr marL="0" indent="0">
              <a:buNone/>
            </a:pPr>
            <a:r>
              <a:rPr lang="en-US" sz="1400" dirty="0" smtClean="0"/>
              <a:t>To ensure we achieved the highest possible forecast accuracy and robustness, we implemented a comparative modeling strategy using several state-of-the-art machine learning algorithms. We focused on tree-based gradient boosting methods, specifically </a:t>
            </a:r>
            <a:r>
              <a:rPr lang="en-US" sz="1400" b="1" dirty="0" err="1" smtClean="0"/>
              <a:t>XGBoost</a:t>
            </a:r>
            <a:r>
              <a:rPr lang="en-US" sz="1400" b="1" dirty="0" smtClean="0"/>
              <a:t> and </a:t>
            </a:r>
            <a:r>
              <a:rPr lang="en-US" sz="1400" b="1" dirty="0" err="1" smtClean="0"/>
              <a:t>LightGBM</a:t>
            </a:r>
            <a:r>
              <a:rPr lang="en-US" sz="1400" dirty="0" smtClean="0"/>
              <a:t>, alongside the </a:t>
            </a:r>
            <a:r>
              <a:rPr lang="en-US" sz="1400" b="1" dirty="0" smtClean="0"/>
              <a:t>Random Forest</a:t>
            </a:r>
            <a:r>
              <a:rPr lang="en-US" sz="1400" dirty="0" smtClean="0"/>
              <a:t> model. These algorithms were chosen for their proven ability to efficiently model complex, non-linear patterns within tabular data and time series features. Crucially, the ultimate forecast was generated by an </a:t>
            </a:r>
            <a:r>
              <a:rPr lang="en-US" sz="1400" b="1" dirty="0" smtClean="0"/>
              <a:t>Ensemble Model</a:t>
            </a:r>
            <a:r>
              <a:rPr lang="en-US" sz="1400" dirty="0" smtClean="0"/>
              <a:t> that strategically combines the individual strengths of the top-performing algorithms. This ensemble approach provides a balanced, reliable prediction that mitigates the risk of any single model overfitting or performing poorly on unexpected data variations.</a:t>
            </a:r>
          </a:p>
          <a:p>
            <a:pPr marL="0" indent="0">
              <a:buNone/>
            </a:pPr>
            <a:r>
              <a:rPr lang="en-US" sz="1400" b="1" dirty="0" smtClean="0"/>
              <a:t>Feature Engineering: Teaching the Models Time and Trend</a:t>
            </a:r>
            <a:endParaRPr lang="en-US" sz="1400" dirty="0" smtClean="0"/>
          </a:p>
          <a:p>
            <a:pPr marL="0" indent="0">
              <a:buNone/>
            </a:pPr>
            <a:r>
              <a:rPr lang="en-US" sz="1400" dirty="0" smtClean="0"/>
              <a:t>The performance of any forecasting model is directly linked to the quality of its inputs. While raw sales figures are essential, we significantly enhanced the model's intelligence through extensive feature engineering. This involved generating </a:t>
            </a:r>
            <a:r>
              <a:rPr lang="en-US" sz="1400" b="1" dirty="0" smtClean="0"/>
              <a:t>time-based features</a:t>
            </a:r>
            <a:r>
              <a:rPr lang="en-US" sz="1400" dirty="0" smtClean="0"/>
              <a:t> like day of the week, month, and year to capture fixed seasonality. More importantly, we created </a:t>
            </a:r>
            <a:r>
              <a:rPr lang="en-US" sz="1400" b="1" dirty="0" smtClean="0"/>
              <a:t>lag features</a:t>
            </a:r>
            <a:r>
              <a:rPr lang="en-US" sz="1400" dirty="0" smtClean="0"/>
              <a:t> and </a:t>
            </a:r>
            <a:r>
              <a:rPr lang="en-US" sz="1400" b="1" dirty="0" smtClean="0"/>
              <a:t>rolling averages</a:t>
            </a:r>
            <a:r>
              <a:rPr lang="en-US" sz="1400" dirty="0" smtClean="0"/>
              <a:t> from past sales data. Lag features essentially ask the model: "What was the demand three days ago?" and "What was the demand last month?" These features allow the models to internalize past behavior, identify long-term trends, and capture the subtle shifts in customer demand that differ across specific stores and product items. This systematic feature creation is what truly unlocked the predictive power of the models.</a:t>
            </a:r>
          </a:p>
          <a:p>
            <a:pPr marL="0" indent="0">
              <a:buNone/>
            </a:pPr>
            <a:endParaRPr lang="en-US" sz="14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176" y="4159824"/>
            <a:ext cx="9850225" cy="1781424"/>
          </a:xfrm>
          <a:prstGeom prst="rect">
            <a:avLst/>
          </a:prstGeom>
        </p:spPr>
      </p:pic>
    </p:spTree>
    <p:extLst>
      <p:ext uri="{BB962C8B-B14F-4D97-AF65-F5344CB8AC3E}">
        <p14:creationId xmlns:p14="http://schemas.microsoft.com/office/powerpoint/2010/main" val="25531187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024" y="313817"/>
            <a:ext cx="11817096" cy="1527175"/>
          </a:xfrm>
        </p:spPr>
        <p:txBody>
          <a:bodyPr>
            <a:normAutofit/>
          </a:bodyPr>
          <a:lstStyle/>
          <a:p>
            <a:pPr marL="0" indent="0">
              <a:lnSpc>
                <a:spcPct val="100000"/>
              </a:lnSpc>
              <a:buNone/>
            </a:pPr>
            <a:r>
              <a:rPr lang="en-US" sz="1400" b="1" dirty="0"/>
              <a:t>Rigorous Validation for Real-World Confidence</a:t>
            </a:r>
            <a:endParaRPr lang="en-US" sz="1400" dirty="0"/>
          </a:p>
          <a:p>
            <a:pPr marL="0" indent="0">
              <a:lnSpc>
                <a:spcPct val="100000"/>
              </a:lnSpc>
              <a:buNone/>
            </a:pPr>
            <a:r>
              <a:rPr lang="en-US" sz="1400" dirty="0"/>
              <a:t>Our modeling workflow followed a rigorous chronological split to ensure the final forecast is reliable and does not suffer from data leakage or overfitting. The models were initially </a:t>
            </a:r>
            <a:r>
              <a:rPr lang="en-US" sz="1400" b="1" dirty="0"/>
              <a:t>trained</a:t>
            </a:r>
            <a:r>
              <a:rPr lang="en-US" sz="1400" dirty="0"/>
              <a:t> on the five-year history spanning 2013 through 2016. The year </a:t>
            </a:r>
            <a:r>
              <a:rPr lang="en-US" sz="1400" b="1" dirty="0"/>
              <a:t>2017 was reserved for validation and </a:t>
            </a:r>
            <a:r>
              <a:rPr lang="en-US" sz="1400" b="1" dirty="0" smtClean="0"/>
              <a:t>tuning</a:t>
            </a:r>
            <a:r>
              <a:rPr lang="en-US" sz="1400" dirty="0" smtClean="0"/>
              <a:t> - allowing </a:t>
            </a:r>
            <a:r>
              <a:rPr lang="en-US" sz="1400" dirty="0"/>
              <a:t>us to objectively compare models and optimize their parameters before they saw any future data. Finally, the finalized Ensemble Model was used to generate the final, high-confidence forecast for the target period of </a:t>
            </a:r>
            <a:r>
              <a:rPr lang="en-US" sz="1400" b="1" dirty="0"/>
              <a:t>2018 demand</a:t>
            </a:r>
            <a:r>
              <a:rPr lang="en-US" sz="1400" dirty="0"/>
              <a:t>. This structured train, validate, and test setup guarantees that the resulting forecasts are thoroughly tested against unseen data and are reliable for informing high-stakes business decisions</a:t>
            </a:r>
            <a:r>
              <a:rPr lang="en-US" sz="1400" dirty="0" smtClean="0"/>
              <a:t>.</a:t>
            </a:r>
            <a:endParaRPr lang="en-US" sz="1400" dirty="0"/>
          </a:p>
        </p:txBody>
      </p:sp>
    </p:spTree>
    <p:extLst>
      <p:ext uri="{BB962C8B-B14F-4D97-AF65-F5344CB8AC3E}">
        <p14:creationId xmlns:p14="http://schemas.microsoft.com/office/powerpoint/2010/main" val="35469842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84" y="170053"/>
            <a:ext cx="3368040" cy="512699"/>
          </a:xfrm>
        </p:spPr>
        <p:txBody>
          <a:bodyPr>
            <a:normAutofit/>
          </a:bodyPr>
          <a:lstStyle/>
          <a:p>
            <a:r>
              <a:rPr lang="en-US" sz="2800" b="1" dirty="0" smtClean="0">
                <a:latin typeface="+mn-lt"/>
              </a:rPr>
              <a:t>Dashboard Overview</a:t>
            </a:r>
            <a:endParaRPr lang="en-US" sz="2800" b="1" dirty="0">
              <a:latin typeface="+mn-lt"/>
            </a:endParaRPr>
          </a:p>
        </p:txBody>
      </p:sp>
      <p:sp>
        <p:nvSpPr>
          <p:cNvPr id="3" name="Content Placeholder 2"/>
          <p:cNvSpPr>
            <a:spLocks noGrp="1"/>
          </p:cNvSpPr>
          <p:nvPr>
            <p:ph idx="1"/>
          </p:nvPr>
        </p:nvSpPr>
        <p:spPr>
          <a:xfrm>
            <a:off x="252984" y="682752"/>
            <a:ext cx="11768328" cy="1511808"/>
          </a:xfrm>
        </p:spPr>
        <p:txBody>
          <a:bodyPr>
            <a:normAutofit/>
          </a:bodyPr>
          <a:lstStyle/>
          <a:p>
            <a:pPr marL="0" indent="0">
              <a:lnSpc>
                <a:spcPct val="100000"/>
              </a:lnSpc>
              <a:buNone/>
            </a:pPr>
            <a:r>
              <a:rPr lang="en-US" sz="1400" b="1" dirty="0" smtClean="0"/>
              <a:t>Transforming Model Outputs into Actionable Insight</a:t>
            </a:r>
          </a:p>
          <a:p>
            <a:pPr marL="0" indent="0">
              <a:lnSpc>
                <a:spcPct val="100000"/>
              </a:lnSpc>
              <a:buNone/>
            </a:pPr>
            <a:r>
              <a:rPr lang="en-US" sz="1400" dirty="0" smtClean="0"/>
              <a:t>This Power BI dashboard serves as the vital connection point between our advanced predictive models and the business user. It provides a complete, dynamic view of demand forecasts across all </a:t>
            </a:r>
            <a:r>
              <a:rPr lang="en-US" sz="1400" b="1" dirty="0" smtClean="0"/>
              <a:t>10 stores and 50 items</a:t>
            </a:r>
            <a:r>
              <a:rPr lang="en-US" sz="1400" dirty="0" smtClean="0"/>
              <a:t>, translating complex model outputs into clear, actionable insights for inventory and sales teams. The layout is designed for immediate comprehension: users can see the </a:t>
            </a:r>
            <a:r>
              <a:rPr lang="en-US" sz="1400" b="1" dirty="0" smtClean="0"/>
              <a:t>aggregate forecast trend</a:t>
            </a:r>
            <a:r>
              <a:rPr lang="en-US" sz="1400" dirty="0" smtClean="0"/>
              <a:t> over time, quickly revealing expected peaks, valleys, and seasonal patterns for the portfolio. This high-level view is then immediately supported by granular detail. The </a:t>
            </a:r>
            <a:r>
              <a:rPr lang="en-US" sz="1400" b="1" dirty="0" err="1" smtClean="0"/>
              <a:t>treemap</a:t>
            </a:r>
            <a:r>
              <a:rPr lang="en-US" sz="1400" b="1" dirty="0" smtClean="0"/>
              <a:t> visual</a:t>
            </a:r>
            <a:r>
              <a:rPr lang="en-US" sz="1400" dirty="0" smtClean="0"/>
              <a:t> helps management instantly assess the proportional contribution of demand from each store, allowing them to rapidly identify high-performing locations or those that require targeted intervention.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984" y="2279904"/>
            <a:ext cx="9366504" cy="4425696"/>
          </a:xfrm>
          <a:prstGeom prst="rect">
            <a:avLst/>
          </a:prstGeom>
        </p:spPr>
      </p:pic>
    </p:spTree>
    <p:extLst>
      <p:ext uri="{BB962C8B-B14F-4D97-AF65-F5344CB8AC3E}">
        <p14:creationId xmlns:p14="http://schemas.microsoft.com/office/powerpoint/2010/main" val="17036149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9560" y="362585"/>
            <a:ext cx="11792712" cy="1953895"/>
          </a:xfrm>
        </p:spPr>
        <p:txBody>
          <a:bodyPr>
            <a:normAutofit/>
          </a:bodyPr>
          <a:lstStyle/>
          <a:p>
            <a:pPr marL="0" indent="0">
              <a:lnSpc>
                <a:spcPct val="100000"/>
              </a:lnSpc>
              <a:buNone/>
            </a:pPr>
            <a:r>
              <a:rPr lang="en-US" sz="1400" dirty="0" smtClean="0"/>
              <a:t>To ensure trust and facilitate tactical planning, the dashboard incorporates robust comparison views. We include a dedicated </a:t>
            </a:r>
            <a:r>
              <a:rPr lang="en-US" sz="1400" b="1" dirty="0" smtClean="0"/>
              <a:t>matrix visual</a:t>
            </a:r>
            <a:r>
              <a:rPr lang="en-US" sz="1400" dirty="0" smtClean="0"/>
              <a:t> that compares the final Ensemble forecast alongside the predictions from its key components - </a:t>
            </a:r>
            <a:r>
              <a:rPr lang="en-US" sz="1400" dirty="0" err="1" smtClean="0"/>
              <a:t>XGBoost</a:t>
            </a:r>
            <a:r>
              <a:rPr lang="en-US" sz="1400" dirty="0" smtClean="0"/>
              <a:t>, </a:t>
            </a:r>
            <a:r>
              <a:rPr lang="en-US" sz="1400" dirty="0" err="1" smtClean="0"/>
              <a:t>LightGBM</a:t>
            </a:r>
            <a:r>
              <a:rPr lang="en-US" sz="1400" dirty="0" smtClean="0"/>
              <a:t>, and Random Forest - allowing managers to see precisely how predictions vary across any given store and item. Complementing this, an </a:t>
            </a:r>
            <a:r>
              <a:rPr lang="en-US" sz="1400" b="1" dirty="0" smtClean="0"/>
              <a:t>interactive line or bar chart</a:t>
            </a:r>
            <a:r>
              <a:rPr lang="en-US" sz="1400" dirty="0" smtClean="0"/>
              <a:t> shows the alignment of these models, confirming the reliability and consensus of the forecast before any stocking decision is made.</a:t>
            </a:r>
            <a:endParaRPr lang="en-US" sz="1400" dirty="0"/>
          </a:p>
          <a:p>
            <a:pPr marL="0" indent="0">
              <a:lnSpc>
                <a:spcPct val="100000"/>
              </a:lnSpc>
              <a:buNone/>
            </a:pPr>
            <a:r>
              <a:rPr lang="en-US" sz="1400" dirty="0" smtClean="0"/>
              <a:t>Ultimately, the dashboard's power lies in its </a:t>
            </a:r>
            <a:r>
              <a:rPr lang="en-US" sz="1400" b="1" dirty="0" smtClean="0"/>
              <a:t>interactivity</a:t>
            </a:r>
            <a:r>
              <a:rPr lang="en-US" sz="1400" dirty="0" smtClean="0"/>
              <a:t>. Users can easily filter the entire view by </a:t>
            </a:r>
            <a:r>
              <a:rPr lang="en-US" sz="1400" b="1" dirty="0" smtClean="0"/>
              <a:t>store</a:t>
            </a:r>
            <a:r>
              <a:rPr lang="en-US" sz="1400" b="1" dirty="0"/>
              <a:t> </a:t>
            </a:r>
            <a:r>
              <a:rPr lang="en-US" sz="1400" b="1" dirty="0" smtClean="0"/>
              <a:t>and date range. </a:t>
            </a:r>
            <a:r>
              <a:rPr lang="en-US" sz="1400" dirty="0" smtClean="0"/>
              <a:t>This dynamic control means a logistics planner can focus on highly demanding products, while an executive can review the overall expected volume. This ability to move seamlessly from the macro-trend to the micro-detail ensures that our forecasting results are not just technically accurate, but are used consistently to inform inventory purchasing, sales targets, and promotional planning.</a:t>
            </a:r>
          </a:p>
        </p:txBody>
      </p:sp>
    </p:spTree>
    <p:extLst>
      <p:ext uri="{BB962C8B-B14F-4D97-AF65-F5344CB8AC3E}">
        <p14:creationId xmlns:p14="http://schemas.microsoft.com/office/powerpoint/2010/main" val="23175851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194437"/>
            <a:ext cx="2100072" cy="524891"/>
          </a:xfrm>
        </p:spPr>
        <p:txBody>
          <a:bodyPr>
            <a:normAutofit/>
          </a:bodyPr>
          <a:lstStyle/>
          <a:p>
            <a:r>
              <a:rPr lang="en-US" sz="2800" b="1" dirty="0" smtClean="0">
                <a:latin typeface="+mn-lt"/>
              </a:rPr>
              <a:t>Key Insights</a:t>
            </a:r>
            <a:endParaRPr lang="en-US" sz="2800" b="1" dirty="0">
              <a:latin typeface="+mn-lt"/>
            </a:endParaRPr>
          </a:p>
        </p:txBody>
      </p:sp>
      <p:sp>
        <p:nvSpPr>
          <p:cNvPr id="3" name="Content Placeholder 2"/>
          <p:cNvSpPr>
            <a:spLocks noGrp="1"/>
          </p:cNvSpPr>
          <p:nvPr>
            <p:ph idx="1"/>
          </p:nvPr>
        </p:nvSpPr>
        <p:spPr>
          <a:xfrm>
            <a:off x="301752" y="719328"/>
            <a:ext cx="7196328" cy="2389632"/>
          </a:xfrm>
        </p:spPr>
        <p:txBody>
          <a:bodyPr>
            <a:normAutofit fontScale="92500"/>
          </a:bodyPr>
          <a:lstStyle/>
          <a:p>
            <a:pPr marL="0" indent="0">
              <a:lnSpc>
                <a:spcPct val="110000"/>
              </a:lnSpc>
              <a:buNone/>
            </a:pPr>
            <a:r>
              <a:rPr lang="en-US" sz="1400" b="1" dirty="0" smtClean="0"/>
              <a:t>What the Data Tells Us</a:t>
            </a:r>
          </a:p>
          <a:p>
            <a:pPr marL="0" indent="0">
              <a:lnSpc>
                <a:spcPct val="110000"/>
              </a:lnSpc>
              <a:buNone/>
            </a:pPr>
            <a:r>
              <a:rPr lang="en-US" sz="1400" dirty="0" smtClean="0"/>
              <a:t>The most compelling takeaway from the modeling exercise is the </a:t>
            </a:r>
            <a:r>
              <a:rPr lang="en-US" sz="1400" b="1" dirty="0" smtClean="0"/>
              <a:t>strong consistency across all our top predictive models</a:t>
            </a:r>
            <a:r>
              <a:rPr lang="en-US" sz="1400" dirty="0" smtClean="0"/>
              <a:t>. </a:t>
            </a:r>
            <a:r>
              <a:rPr lang="en-US" sz="1400" dirty="0" err="1" smtClean="0"/>
              <a:t>XGBoost</a:t>
            </a:r>
            <a:r>
              <a:rPr lang="en-US" sz="1400" dirty="0" smtClean="0"/>
              <a:t>, </a:t>
            </a:r>
            <a:r>
              <a:rPr lang="en-US" sz="1400" dirty="0" err="1" smtClean="0"/>
              <a:t>LightGBM</a:t>
            </a:r>
            <a:r>
              <a:rPr lang="en-US" sz="1400" dirty="0" smtClean="0"/>
              <a:t>, Random Forest, and the final Ensemble model all align closely in their forecast patterns, which significantly increases our confidence in the 2018 predictions. This alignment confirms that the features we engineered - especially the lag and rolling average components - are robustly capturing the underlying sales patterns, regardless of the specific algorithm used.</a:t>
            </a:r>
          </a:p>
          <a:p>
            <a:pPr marL="0" indent="0">
              <a:lnSpc>
                <a:spcPct val="110000"/>
              </a:lnSpc>
              <a:buNone/>
            </a:pPr>
            <a:r>
              <a:rPr lang="en-US" sz="1400" dirty="0" smtClean="0"/>
              <a:t>Looking deeper into the individual sales drivers, the data clearly identifies where inventory focus is most needed. </a:t>
            </a:r>
            <a:r>
              <a:rPr lang="en-US" sz="1400" b="1" dirty="0" smtClean="0"/>
              <a:t>Store 8</a:t>
            </a:r>
            <a:r>
              <a:rPr lang="en-US" sz="1400" dirty="0" smtClean="0"/>
              <a:t> leads the portfolio with the highest total forecasted volume ($</a:t>
            </a:r>
            <a:r>
              <a:rPr lang="en-US" sz="1400" b="1" dirty="0" smtClean="0"/>
              <a:t>224.1k</a:t>
            </a:r>
            <a:r>
              <a:rPr lang="en-US" sz="1400" dirty="0" smtClean="0"/>
              <a:t>), closely followed by Store 5 ($</a:t>
            </a:r>
            <a:r>
              <a:rPr lang="en-US" sz="1400" b="1" dirty="0" smtClean="0"/>
              <a:t>217.1k</a:t>
            </a:r>
            <a:r>
              <a:rPr lang="en-US" sz="1400" dirty="0" smtClean="0"/>
              <a:t>) and Store 2 ($</a:t>
            </a:r>
            <a:r>
              <a:rPr lang="en-US" sz="1400" b="1" dirty="0" smtClean="0"/>
              <a:t>210.4k</a:t>
            </a:r>
            <a:r>
              <a:rPr lang="en-US" sz="1400" dirty="0" smtClean="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8080" y="1013906"/>
            <a:ext cx="4467849" cy="1800476"/>
          </a:xfrm>
          <a:prstGeom prst="rect">
            <a:avLst/>
          </a:prstGeom>
        </p:spPr>
      </p:pic>
      <p:sp>
        <p:nvSpPr>
          <p:cNvPr id="7" name="TextBox 6"/>
          <p:cNvSpPr txBox="1"/>
          <p:nvPr/>
        </p:nvSpPr>
        <p:spPr>
          <a:xfrm>
            <a:off x="301752" y="3034206"/>
            <a:ext cx="11664177" cy="738664"/>
          </a:xfrm>
          <a:prstGeom prst="rect">
            <a:avLst/>
          </a:prstGeom>
          <a:noFill/>
        </p:spPr>
        <p:txBody>
          <a:bodyPr wrap="square" rtlCol="0">
            <a:spAutoFit/>
          </a:bodyPr>
          <a:lstStyle/>
          <a:p>
            <a:r>
              <a:rPr lang="en-US" sz="1400" dirty="0" smtClean="0"/>
              <a:t>This distribution immediately dictates the priority for capital allocation and logistical planning. Similarly, across products, we see high demand concentration: </a:t>
            </a:r>
            <a:r>
              <a:rPr lang="en-US" sz="1400" b="1" dirty="0" smtClean="0"/>
              <a:t>Items 7, 37, and 8</a:t>
            </a:r>
            <a:r>
              <a:rPr lang="en-US" sz="1400" dirty="0" smtClean="0"/>
              <a:t> are the primary volume drivers suggesting these products have strong, consistent customer pull and should be protected against </a:t>
            </a:r>
            <a:r>
              <a:rPr lang="en-US" sz="1400" dirty="0" err="1" smtClean="0"/>
              <a:t>stockouts</a:t>
            </a:r>
            <a:r>
              <a:rPr lang="en-US" sz="1400" dirty="0" smtClean="0"/>
              <a:t> above all others.</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752" y="3772870"/>
            <a:ext cx="4458322" cy="2200582"/>
          </a:xfrm>
          <a:prstGeom prst="rect">
            <a:avLst/>
          </a:prstGeom>
        </p:spPr>
      </p:pic>
      <p:sp>
        <p:nvSpPr>
          <p:cNvPr id="11" name="TextBox 10"/>
          <p:cNvSpPr txBox="1"/>
          <p:nvPr/>
        </p:nvSpPr>
        <p:spPr>
          <a:xfrm>
            <a:off x="5071872" y="3772870"/>
            <a:ext cx="6894057" cy="2031325"/>
          </a:xfrm>
          <a:prstGeom prst="rect">
            <a:avLst/>
          </a:prstGeom>
          <a:noFill/>
        </p:spPr>
        <p:txBody>
          <a:bodyPr wrap="square" rtlCol="0">
            <a:spAutoFit/>
          </a:bodyPr>
          <a:lstStyle/>
          <a:p>
            <a:r>
              <a:rPr lang="en-US" sz="1400" dirty="0" smtClean="0"/>
              <a:t>From a modeling perspective, the </a:t>
            </a:r>
            <a:r>
              <a:rPr lang="en-US" sz="1400" b="1" dirty="0" smtClean="0"/>
              <a:t>Ensemble model</a:t>
            </a:r>
            <a:r>
              <a:rPr lang="en-US" sz="1400" dirty="0" smtClean="0"/>
              <a:t> proves its value by delivering the most stable and balanced results across the full mix of stores and items.</a:t>
            </a:r>
          </a:p>
          <a:p>
            <a:r>
              <a:rPr lang="en-US" sz="1400" dirty="0" smtClean="0"/>
              <a:t>By blending the predictions of the top-performing algorithms, we effectively reduce the variance that might be present in any single model, leading to the highest possible confidence score for our final forecasts.</a:t>
            </a:r>
          </a:p>
          <a:p>
            <a:r>
              <a:rPr lang="en-US" sz="1400" dirty="0" smtClean="0"/>
              <a:t>These findings move us past simple historical reporting into </a:t>
            </a:r>
            <a:r>
              <a:rPr lang="en-US" sz="1400" b="1" dirty="0" smtClean="0"/>
              <a:t>proactive demand planning</a:t>
            </a:r>
            <a:r>
              <a:rPr lang="en-US" sz="1400" dirty="0" smtClean="0"/>
              <a:t>. We now have a clear, data-driven map showing where to allocate inventory (the high-volume stores and items) and a reliable method (the Ensemble model) for maintaining optimal stock levels, directly improving our service rates and profit margins.</a:t>
            </a:r>
          </a:p>
        </p:txBody>
      </p:sp>
    </p:spTree>
    <p:extLst>
      <p:ext uri="{BB962C8B-B14F-4D97-AF65-F5344CB8AC3E}">
        <p14:creationId xmlns:p14="http://schemas.microsoft.com/office/powerpoint/2010/main" val="13725976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84" y="218821"/>
            <a:ext cx="3038856" cy="524891"/>
          </a:xfrm>
        </p:spPr>
        <p:txBody>
          <a:bodyPr>
            <a:normAutofit/>
          </a:bodyPr>
          <a:lstStyle/>
          <a:p>
            <a:r>
              <a:rPr lang="en-US" sz="2800" b="1" dirty="0" smtClean="0">
                <a:latin typeface="+mn-lt"/>
              </a:rPr>
              <a:t>Recommendations</a:t>
            </a:r>
            <a:endParaRPr lang="en-US" sz="2800" b="1" dirty="0">
              <a:latin typeface="+mn-lt"/>
            </a:endParaRPr>
          </a:p>
        </p:txBody>
      </p:sp>
      <p:sp>
        <p:nvSpPr>
          <p:cNvPr id="3" name="Content Placeholder 2"/>
          <p:cNvSpPr>
            <a:spLocks noGrp="1"/>
          </p:cNvSpPr>
          <p:nvPr>
            <p:ph idx="1"/>
          </p:nvPr>
        </p:nvSpPr>
        <p:spPr>
          <a:xfrm>
            <a:off x="252984" y="743712"/>
            <a:ext cx="11695176" cy="3877056"/>
          </a:xfrm>
        </p:spPr>
        <p:txBody>
          <a:bodyPr>
            <a:normAutofit/>
          </a:bodyPr>
          <a:lstStyle/>
          <a:p>
            <a:pPr marL="0" indent="0">
              <a:lnSpc>
                <a:spcPct val="100000"/>
              </a:lnSpc>
              <a:buNone/>
            </a:pPr>
            <a:r>
              <a:rPr lang="en-US" sz="1400" dirty="0" smtClean="0"/>
              <a:t>The demand forecasting project and the resulting dashboard provide clear direction for enhancing inventory control and maximizing sales. We recommend the following three actions be implemented immediately:</a:t>
            </a:r>
          </a:p>
          <a:p>
            <a:pPr marL="0" indent="0">
              <a:lnSpc>
                <a:spcPct val="100000"/>
              </a:lnSpc>
              <a:buNone/>
            </a:pPr>
            <a:r>
              <a:rPr lang="en-US" sz="1400" b="1" dirty="0" smtClean="0"/>
              <a:t>Scale Up High Performers</a:t>
            </a:r>
            <a:endParaRPr lang="en-US" sz="1400" dirty="0" smtClean="0"/>
          </a:p>
          <a:p>
            <a:pPr marL="0" indent="0">
              <a:lnSpc>
                <a:spcPct val="100000"/>
              </a:lnSpc>
              <a:buNone/>
            </a:pPr>
            <a:r>
              <a:rPr lang="en-US" sz="1400" dirty="0" smtClean="0"/>
              <a:t>Based on the forecasted demand, we must prioritize inventory for the high-volume locations: </a:t>
            </a:r>
            <a:r>
              <a:rPr lang="en-US" sz="1400" b="1" dirty="0" smtClean="0"/>
              <a:t>Store 8, Store 5, and Store 2</a:t>
            </a:r>
            <a:r>
              <a:rPr lang="en-US" sz="1400" dirty="0" smtClean="0"/>
              <a:t>. Increasing stock levels and targeting localized marketing efforts in these areas will ensure we meet peak customer pull, directly mitigating the risk of costly </a:t>
            </a:r>
            <a:r>
              <a:rPr lang="en-US" sz="1400" dirty="0" err="1" smtClean="0"/>
              <a:t>stockouts</a:t>
            </a:r>
            <a:r>
              <a:rPr lang="en-US" sz="1400" dirty="0" smtClean="0"/>
              <a:t> and securing the highest potential sales volume. This is where capital should be concentrated first.</a:t>
            </a:r>
          </a:p>
          <a:p>
            <a:pPr marL="0" indent="0">
              <a:lnSpc>
                <a:spcPct val="100000"/>
              </a:lnSpc>
              <a:buNone/>
            </a:pPr>
            <a:r>
              <a:rPr lang="en-US" sz="1400" b="1" dirty="0" smtClean="0"/>
              <a:t>Trust the Ensemble Model</a:t>
            </a:r>
            <a:endParaRPr lang="en-US" sz="1400" dirty="0" smtClean="0"/>
          </a:p>
          <a:p>
            <a:pPr marL="0" indent="0">
              <a:lnSpc>
                <a:spcPct val="100000"/>
              </a:lnSpc>
              <a:buNone/>
            </a:pPr>
            <a:r>
              <a:rPr lang="en-US" sz="1400" dirty="0" smtClean="0"/>
              <a:t>The comparison phase confirmed that the </a:t>
            </a:r>
            <a:r>
              <a:rPr lang="en-US" sz="1400" b="1" dirty="0" smtClean="0"/>
              <a:t>Ensemble Model</a:t>
            </a:r>
            <a:r>
              <a:rPr lang="en-US" sz="1400" dirty="0" smtClean="0"/>
              <a:t> delivers the most reliable, stable, and balanced predictions across the full complexity of our stores and items. We recommend adopting this Ensemble forecast as the </a:t>
            </a:r>
            <a:r>
              <a:rPr lang="en-US" sz="1400" b="1" dirty="0" smtClean="0"/>
              <a:t>primary, authoritative baseline</a:t>
            </a:r>
            <a:r>
              <a:rPr lang="en-US" sz="1400" dirty="0" smtClean="0"/>
              <a:t> for all monthly inventory purchasing and sales planning decisions moving forward. This standardization removes reliance on individual model variance and elevates confidence across all operational teams.</a:t>
            </a:r>
          </a:p>
          <a:p>
            <a:pPr marL="0" indent="0">
              <a:lnSpc>
                <a:spcPct val="100000"/>
              </a:lnSpc>
              <a:buNone/>
            </a:pPr>
            <a:r>
              <a:rPr lang="en-US" sz="1400" b="1" dirty="0" smtClean="0"/>
              <a:t>Cut Waste Smartly</a:t>
            </a:r>
            <a:endParaRPr lang="en-US" sz="1400" dirty="0" smtClean="0"/>
          </a:p>
          <a:p>
            <a:pPr marL="0" indent="0">
              <a:lnSpc>
                <a:spcPct val="100000"/>
              </a:lnSpc>
              <a:buNone/>
            </a:pPr>
            <a:r>
              <a:rPr lang="en-US" sz="1400" dirty="0" smtClean="0"/>
              <a:t>We need to use the dashboard's item-level insights to proactively address potential waste. Closely monitor and reduce procurement volume for the </a:t>
            </a:r>
            <a:r>
              <a:rPr lang="en-US" sz="1400" b="1" dirty="0" smtClean="0"/>
              <a:t>low-demand items</a:t>
            </a:r>
            <a:r>
              <a:rPr lang="en-US" sz="1400" dirty="0" smtClean="0"/>
              <a:t> identified in the analysis. By aligning the stock of these underperforming products strictly with their lower predicted demand, we can effectively prevent overstocking, reduce carrying costs, and free up valuable capital and warehouse space.</a:t>
            </a:r>
          </a:p>
        </p:txBody>
      </p:sp>
    </p:spTree>
    <p:extLst>
      <p:ext uri="{BB962C8B-B14F-4D97-AF65-F5344CB8AC3E}">
        <p14:creationId xmlns:p14="http://schemas.microsoft.com/office/powerpoint/2010/main" val="4193975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84" y="231013"/>
            <a:ext cx="3843528" cy="463931"/>
          </a:xfrm>
        </p:spPr>
        <p:txBody>
          <a:bodyPr>
            <a:noAutofit/>
          </a:bodyPr>
          <a:lstStyle/>
          <a:p>
            <a:r>
              <a:rPr lang="en-US" sz="2800" b="1" dirty="0" smtClean="0">
                <a:latin typeface="+mn-lt"/>
              </a:rPr>
              <a:t>Conclusion / Next Steps</a:t>
            </a:r>
            <a:endParaRPr lang="en-US" sz="2800" b="1" dirty="0">
              <a:latin typeface="+mn-lt"/>
            </a:endParaRPr>
          </a:p>
        </p:txBody>
      </p:sp>
      <p:sp>
        <p:nvSpPr>
          <p:cNvPr id="3" name="Content Placeholder 2"/>
          <p:cNvSpPr>
            <a:spLocks noGrp="1"/>
          </p:cNvSpPr>
          <p:nvPr>
            <p:ph idx="1"/>
          </p:nvPr>
        </p:nvSpPr>
        <p:spPr>
          <a:xfrm>
            <a:off x="252984" y="694944"/>
            <a:ext cx="11756136" cy="3169920"/>
          </a:xfrm>
        </p:spPr>
        <p:txBody>
          <a:bodyPr>
            <a:normAutofit/>
          </a:bodyPr>
          <a:lstStyle/>
          <a:p>
            <a:pPr marL="0" indent="0">
              <a:lnSpc>
                <a:spcPct val="100000"/>
              </a:lnSpc>
              <a:buNone/>
            </a:pPr>
            <a:r>
              <a:rPr lang="en-US" sz="1400" dirty="0" smtClean="0"/>
              <a:t>This project successfully transitioned our retail operation from intuition-based planning to a data-driven model, delivering high-accuracy demand forecasts via the Power BI dashboard. This shift enables far more confident </a:t>
            </a:r>
            <a:r>
              <a:rPr lang="en-US" sz="1400" b="1" dirty="0" smtClean="0"/>
              <a:t>inventory allocation</a:t>
            </a:r>
            <a:r>
              <a:rPr lang="en-US" sz="1400" dirty="0" smtClean="0"/>
              <a:t> and drastically reduces costly waste and </a:t>
            </a:r>
            <a:r>
              <a:rPr lang="en-US" sz="1400" dirty="0" err="1" smtClean="0"/>
              <a:t>stockouts</a:t>
            </a:r>
            <a:r>
              <a:rPr lang="en-US" sz="1400" dirty="0" smtClean="0"/>
              <a:t> across the portfolio. The system is validated, reliable, and ready to be deployed as a core decision-making tool.</a:t>
            </a:r>
          </a:p>
          <a:p>
            <a:pPr marL="0" indent="0">
              <a:lnSpc>
                <a:spcPct val="100000"/>
              </a:lnSpc>
              <a:buNone/>
            </a:pPr>
            <a:r>
              <a:rPr lang="en-US" sz="1400" dirty="0" smtClean="0"/>
              <a:t>Here is the roadmap for evolving this forecasting project into a fully mature, automated business intelligence asset:</a:t>
            </a:r>
          </a:p>
          <a:p>
            <a:pPr marL="0" indent="0">
              <a:lnSpc>
                <a:spcPct val="100000"/>
              </a:lnSpc>
              <a:buNone/>
            </a:pPr>
            <a:r>
              <a:rPr lang="en-US" sz="1400" b="1" dirty="0" smtClean="0"/>
              <a:t>Integrate Live Data Feeds</a:t>
            </a:r>
            <a:r>
              <a:rPr lang="en-US" sz="1400" dirty="0" smtClean="0"/>
              <a:t> Establish a continuous, </a:t>
            </a:r>
            <a:r>
              <a:rPr lang="en-US" sz="1400" b="1" dirty="0" smtClean="0"/>
              <a:t>real-time data connection</a:t>
            </a:r>
            <a:r>
              <a:rPr lang="en-US" sz="1400" dirty="0" smtClean="0"/>
              <a:t> between the source databases and the Power BI dashboard. This will eliminate manual data exports and ensure the forecasts, visualizations, and inventory action signals are always based on the very latest sales figures.</a:t>
            </a:r>
          </a:p>
          <a:p>
            <a:pPr marL="0" indent="0">
              <a:lnSpc>
                <a:spcPct val="100000"/>
              </a:lnSpc>
              <a:buNone/>
            </a:pPr>
            <a:r>
              <a:rPr lang="en-US" sz="1400" b="1" dirty="0" smtClean="0"/>
              <a:t>Automate Model Retraining</a:t>
            </a:r>
            <a:r>
              <a:rPr lang="en-US" sz="1400" dirty="0" smtClean="0"/>
              <a:t> Implement a scheduled pipeline to </a:t>
            </a:r>
            <a:r>
              <a:rPr lang="en-US" sz="1400" b="1" dirty="0" smtClean="0"/>
              <a:t>automatically retrain the Ensemble model</a:t>
            </a:r>
            <a:r>
              <a:rPr lang="en-US" sz="1400" dirty="0" smtClean="0"/>
              <a:t> (</a:t>
            </a:r>
            <a:r>
              <a:rPr lang="en-US" sz="1400" dirty="0" err="1" smtClean="0"/>
              <a:t>XGBoost</a:t>
            </a:r>
            <a:r>
              <a:rPr lang="en-US" sz="1400" dirty="0" smtClean="0"/>
              <a:t>/</a:t>
            </a:r>
            <a:r>
              <a:rPr lang="en-US" sz="1400" dirty="0" err="1" smtClean="0"/>
              <a:t>LightGBM</a:t>
            </a:r>
            <a:r>
              <a:rPr lang="en-US" sz="1400" dirty="0" smtClean="0"/>
              <a:t>) on a regular cadence (e.g., monthly). This ensures the model continuously learns from new sales behavior and seasonal shifts, preserving forecast accuracy over time without manual intervention.</a:t>
            </a:r>
          </a:p>
          <a:p>
            <a:pPr marL="0" indent="0">
              <a:lnSpc>
                <a:spcPct val="100000"/>
              </a:lnSpc>
              <a:buNone/>
            </a:pPr>
            <a:r>
              <a:rPr lang="en-US" sz="1400" b="1" dirty="0" smtClean="0"/>
              <a:t>Expand Forecasting Scope</a:t>
            </a:r>
            <a:r>
              <a:rPr lang="en-US" sz="1400" dirty="0" smtClean="0"/>
              <a:t> The current success focused on </a:t>
            </a:r>
            <a:r>
              <a:rPr lang="en-US" sz="1400" b="1" dirty="0" smtClean="0"/>
              <a:t>10 stores and 50 items</a:t>
            </a:r>
            <a:r>
              <a:rPr lang="en-US" sz="1400" dirty="0" smtClean="0"/>
              <a:t>. The next step is to expand the scope to include hierarchical </a:t>
            </a:r>
            <a:r>
              <a:rPr lang="en-US" sz="1400" dirty="0" smtClean="0"/>
              <a:t>forecasting - allowing </a:t>
            </a:r>
            <a:r>
              <a:rPr lang="en-US" sz="1400" dirty="0" smtClean="0"/>
              <a:t>us to generate predictions at the </a:t>
            </a:r>
            <a:r>
              <a:rPr lang="en-US" sz="1400" b="1" dirty="0" smtClean="0"/>
              <a:t>regional or category level</a:t>
            </a:r>
            <a:r>
              <a:rPr lang="en-US" sz="1400" dirty="0" smtClean="0"/>
              <a:t> in addition to the store-item </a:t>
            </a:r>
            <a:r>
              <a:rPr lang="en-US" sz="1400" dirty="0" smtClean="0"/>
              <a:t>level - providing </a:t>
            </a:r>
            <a:r>
              <a:rPr lang="en-US" sz="1400" dirty="0" smtClean="0"/>
              <a:t>management with more strategic, high-level business views.</a:t>
            </a:r>
          </a:p>
          <a:p>
            <a:pPr marL="0" indent="0">
              <a:lnSpc>
                <a:spcPct val="100000"/>
              </a:lnSpc>
              <a:buNone/>
            </a:pPr>
            <a:endParaRPr lang="en-US" sz="1400" dirty="0"/>
          </a:p>
        </p:txBody>
      </p:sp>
    </p:spTree>
    <p:extLst>
      <p:ext uri="{BB962C8B-B14F-4D97-AF65-F5344CB8AC3E}">
        <p14:creationId xmlns:p14="http://schemas.microsoft.com/office/powerpoint/2010/main" val="27718414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218821"/>
            <a:ext cx="1648968" cy="549275"/>
          </a:xfrm>
        </p:spPr>
        <p:txBody>
          <a:bodyPr>
            <a:normAutofit/>
          </a:bodyPr>
          <a:lstStyle/>
          <a:p>
            <a:r>
              <a:rPr lang="en-US" sz="2800" b="1" dirty="0" smtClean="0">
                <a:latin typeface="+mn-lt"/>
              </a:rPr>
              <a:t>Appendix</a:t>
            </a:r>
            <a:endParaRPr lang="en-US" sz="2800" b="1" dirty="0">
              <a:latin typeface="+mn-lt"/>
            </a:endParaRPr>
          </a:p>
        </p:txBody>
      </p:sp>
      <p:graphicFrame>
        <p:nvGraphicFramePr>
          <p:cNvPr id="6" name="Table 5"/>
          <p:cNvGraphicFramePr>
            <a:graphicFrameLocks noGrp="1"/>
          </p:cNvGraphicFramePr>
          <p:nvPr>
            <p:extLst>
              <p:ext uri="{D42A27DB-BD31-4B8C-83A1-F6EECF244321}">
                <p14:modId xmlns:p14="http://schemas.microsoft.com/office/powerpoint/2010/main" val="2895197899"/>
              </p:ext>
            </p:extLst>
          </p:nvPr>
        </p:nvGraphicFramePr>
        <p:xfrm>
          <a:off x="289560" y="1170432"/>
          <a:ext cx="11719560" cy="5310835"/>
        </p:xfrm>
        <a:graphic>
          <a:graphicData uri="http://schemas.openxmlformats.org/drawingml/2006/table">
            <a:tbl>
              <a:tblPr firstRow="1" bandRow="1">
                <a:tableStyleId>{073A0DAA-6AF3-43AB-8588-CEC1D06C72B9}</a:tableStyleId>
              </a:tblPr>
              <a:tblGrid>
                <a:gridCol w="1965960">
                  <a:extLst>
                    <a:ext uri="{9D8B030D-6E8A-4147-A177-3AD203B41FA5}">
                      <a16:colId xmlns:a16="http://schemas.microsoft.com/office/drawing/2014/main" val="3348394217"/>
                    </a:ext>
                  </a:extLst>
                </a:gridCol>
                <a:gridCol w="1743456">
                  <a:extLst>
                    <a:ext uri="{9D8B030D-6E8A-4147-A177-3AD203B41FA5}">
                      <a16:colId xmlns:a16="http://schemas.microsoft.com/office/drawing/2014/main" val="44913629"/>
                    </a:ext>
                  </a:extLst>
                </a:gridCol>
                <a:gridCol w="8010144">
                  <a:extLst>
                    <a:ext uri="{9D8B030D-6E8A-4147-A177-3AD203B41FA5}">
                      <a16:colId xmlns:a16="http://schemas.microsoft.com/office/drawing/2014/main" val="3510221894"/>
                    </a:ext>
                  </a:extLst>
                </a:gridCol>
              </a:tblGrid>
              <a:tr h="341376">
                <a:tc>
                  <a:txBody>
                    <a:bodyPr/>
                    <a:lstStyle/>
                    <a:p>
                      <a:r>
                        <a:rPr lang="en-US" sz="1400" dirty="0" smtClean="0"/>
                        <a:t>Technical Workflow</a:t>
                      </a:r>
                      <a:endParaRPr lang="en-US" sz="1400" dirty="0"/>
                    </a:p>
                  </a:txBody>
                  <a:tcPr/>
                </a:tc>
                <a:tc>
                  <a:txBody>
                    <a:bodyPr/>
                    <a:lstStyle/>
                    <a:p>
                      <a:r>
                        <a:rPr lang="en-US" sz="1400" dirty="0" smtClean="0"/>
                        <a:t>Model Evaluation Summary</a:t>
                      </a:r>
                      <a:endParaRPr lang="en-US" sz="1400" dirty="0"/>
                    </a:p>
                  </a:txBody>
                  <a:tcPr/>
                </a:tc>
                <a:tc>
                  <a:txBody>
                    <a:bodyPr/>
                    <a:lstStyle/>
                    <a:p>
                      <a:r>
                        <a:rPr lang="en-US" sz="1400" dirty="0" smtClean="0"/>
                        <a:t>Power BI &amp; Code Snippets</a:t>
                      </a:r>
                      <a:endParaRPr lang="en-US" sz="1400" dirty="0"/>
                    </a:p>
                  </a:txBody>
                  <a:tcPr/>
                </a:tc>
                <a:extLst>
                  <a:ext uri="{0D108BD9-81ED-4DB2-BD59-A6C34878D82A}">
                    <a16:rowId xmlns:a16="http://schemas.microsoft.com/office/drawing/2014/main" val="3964241703"/>
                  </a:ext>
                </a:extLst>
              </a:tr>
              <a:tr h="390144">
                <a:tc>
                  <a:txBody>
                    <a:bodyPr/>
                    <a:lstStyle/>
                    <a:p>
                      <a:r>
                        <a:rPr lang="en-US" sz="1400" b="1" dirty="0" smtClean="0"/>
                        <a:t>Pipeline:</a:t>
                      </a:r>
                      <a:r>
                        <a:rPr lang="en-US" sz="1400" dirty="0" smtClean="0"/>
                        <a:t> Automated Machine Learning pipeline trained on historical data (2013–2017).</a:t>
                      </a:r>
                      <a:endParaRPr lang="en-US" sz="1400" dirty="0"/>
                    </a:p>
                  </a:txBody>
                  <a:tcPr/>
                </a:tc>
                <a:tc>
                  <a:txBody>
                    <a:bodyPr/>
                    <a:lstStyle/>
                    <a:p>
                      <a:r>
                        <a:rPr lang="en-US" sz="1400" b="1" dirty="0" smtClean="0"/>
                        <a:t>Primary Model:</a:t>
                      </a:r>
                      <a:r>
                        <a:rPr lang="en-US" sz="1400" dirty="0" smtClean="0"/>
                        <a:t> Ensemble (</a:t>
                      </a:r>
                      <a:r>
                        <a:rPr lang="en-US" sz="1400" dirty="0" err="1" smtClean="0"/>
                        <a:t>XGBoost</a:t>
                      </a:r>
                      <a:r>
                        <a:rPr lang="en-US" sz="1400" dirty="0" smtClean="0"/>
                        <a:t>/</a:t>
                      </a:r>
                      <a:r>
                        <a:rPr lang="en-US" sz="1400" dirty="0" err="1" smtClean="0"/>
                        <a:t>LightGBM</a:t>
                      </a:r>
                      <a:r>
                        <a:rPr lang="en-US" sz="1400" dirty="0" smtClean="0"/>
                        <a:t>)</a:t>
                      </a:r>
                      <a:endParaRPr lang="en-US" sz="1400" dirty="0"/>
                    </a:p>
                  </a:txBody>
                  <a:tcPr/>
                </a:tc>
                <a:tc>
                  <a:txBody>
                    <a:bodyPr/>
                    <a:lstStyle/>
                    <a:p>
                      <a:r>
                        <a:rPr lang="en-US" sz="1400" b="1" dirty="0" smtClean="0"/>
                        <a:t>Data Layer:</a:t>
                      </a:r>
                      <a:r>
                        <a:rPr lang="en-US" sz="1400" dirty="0" smtClean="0"/>
                        <a:t> SQLite database instance used as the intermediary storage layer for clean predictions.</a:t>
                      </a:r>
                      <a:endParaRPr lang="en-US" sz="1400" dirty="0"/>
                    </a:p>
                  </a:txBody>
                  <a:tcPr/>
                </a:tc>
                <a:extLst>
                  <a:ext uri="{0D108BD9-81ED-4DB2-BD59-A6C34878D82A}">
                    <a16:rowId xmlns:a16="http://schemas.microsoft.com/office/drawing/2014/main" val="39629030"/>
                  </a:ext>
                </a:extLst>
              </a:tr>
              <a:tr h="1104595">
                <a:tc>
                  <a:txBody>
                    <a:bodyPr/>
                    <a:lstStyle/>
                    <a:p>
                      <a:r>
                        <a:rPr lang="en-US" sz="1400" b="1" dirty="0" smtClean="0"/>
                        <a:t>Storage:</a:t>
                      </a:r>
                      <a:r>
                        <a:rPr lang="en-US" sz="1400" dirty="0" smtClean="0"/>
                        <a:t> Prediction results were saved to a </a:t>
                      </a:r>
                      <a:r>
                        <a:rPr lang="en-US" sz="1400" b="1" dirty="0" smtClean="0"/>
                        <a:t>SQLite database</a:t>
                      </a:r>
                      <a:r>
                        <a:rPr lang="en-US" sz="1400" dirty="0" smtClean="0"/>
                        <a:t> for structured, consistent data retrieval.</a:t>
                      </a:r>
                      <a:endParaRPr lang="en-US" sz="1400" dirty="0"/>
                    </a:p>
                  </a:txBody>
                  <a:tcPr/>
                </a:tc>
                <a:tc>
                  <a:txBody>
                    <a:bodyPr/>
                    <a:lstStyle/>
                    <a:p>
                      <a:r>
                        <a:rPr lang="en-US" sz="1400" b="1" dirty="0" smtClean="0"/>
                        <a:t>MAE (Mean Abs. Error):</a:t>
                      </a:r>
                      <a:r>
                        <a:rPr lang="en-US" sz="1400" dirty="0" smtClean="0"/>
                        <a:t> </a:t>
                      </a:r>
                      <a:r>
                        <a:rPr lang="en-US" sz="1400" b="1" dirty="0" smtClean="0"/>
                        <a:t>6.12</a:t>
                      </a:r>
                      <a:r>
                        <a:rPr lang="en-US" sz="1400" dirty="0" smtClean="0"/>
                        <a:t> units</a:t>
                      </a:r>
                      <a:endParaRPr lang="en-US" sz="1400" dirty="0"/>
                    </a:p>
                  </a:txBody>
                  <a:tcPr/>
                </a:tc>
                <a:tc>
                  <a:txBody>
                    <a:bodyPr/>
                    <a:lstStyle/>
                    <a:p>
                      <a:r>
                        <a:rPr lang="en-US" sz="1400" b="1" dirty="0" smtClean="0"/>
                        <a:t>Visualization:</a:t>
                      </a:r>
                      <a:r>
                        <a:rPr lang="en-US" sz="1400" dirty="0" smtClean="0"/>
                        <a:t> Power BI connects directly to the SQLite output for automated data refresh and dashboard rendering.</a:t>
                      </a:r>
                      <a:endParaRPr lang="en-US" sz="1400" dirty="0"/>
                    </a:p>
                  </a:txBody>
                  <a:tcPr/>
                </a:tc>
                <a:extLst>
                  <a:ext uri="{0D108BD9-81ED-4DB2-BD59-A6C34878D82A}">
                    <a16:rowId xmlns:a16="http://schemas.microsoft.com/office/drawing/2014/main" val="1744273366"/>
                  </a:ext>
                </a:extLst>
              </a:tr>
              <a:tr h="1104595">
                <a:tc>
                  <a:txBody>
                    <a:bodyPr/>
                    <a:lstStyle/>
                    <a:p>
                      <a:r>
                        <a:rPr lang="en-US" sz="1400" b="1" dirty="0" smtClean="0"/>
                        <a:t>Tools:</a:t>
                      </a:r>
                      <a:r>
                        <a:rPr lang="en-US" sz="1400" dirty="0" smtClean="0"/>
                        <a:t> Python (</a:t>
                      </a:r>
                      <a:r>
                        <a:rPr lang="en-US" sz="1400" dirty="0" err="1" smtClean="0"/>
                        <a:t>scikit</a:t>
                      </a:r>
                      <a:r>
                        <a:rPr lang="en-US" sz="1400" dirty="0" smtClean="0"/>
                        <a:t>-learn, </a:t>
                      </a:r>
                      <a:r>
                        <a:rPr lang="en-US" sz="1400" dirty="0" err="1" smtClean="0"/>
                        <a:t>XGBoost</a:t>
                      </a:r>
                      <a:r>
                        <a:rPr lang="en-US" sz="1400" dirty="0" smtClean="0"/>
                        <a:t>, </a:t>
                      </a:r>
                      <a:r>
                        <a:rPr lang="en-US" sz="1400" dirty="0" err="1" smtClean="0"/>
                        <a:t>LightGBM</a:t>
                      </a:r>
                      <a:r>
                        <a:rPr lang="en-US" sz="1400" dirty="0" smtClean="0"/>
                        <a:t>) for modeling; </a:t>
                      </a:r>
                      <a:r>
                        <a:rPr lang="en-US" sz="1400" b="1" dirty="0" smtClean="0"/>
                        <a:t>SQL</a:t>
                      </a:r>
                      <a:r>
                        <a:rPr lang="en-US" sz="1400" dirty="0" smtClean="0"/>
                        <a:t> for data preparation; </a:t>
                      </a:r>
                      <a:r>
                        <a:rPr lang="en-US" sz="1400" b="1" dirty="0" smtClean="0"/>
                        <a:t>Power BI</a:t>
                      </a:r>
                      <a:r>
                        <a:rPr lang="en-US" sz="1400" dirty="0" smtClean="0"/>
                        <a:t> for visualization.</a:t>
                      </a:r>
                      <a:endParaRPr lang="en-US" sz="1400" dirty="0"/>
                    </a:p>
                  </a:txBody>
                  <a:tcPr/>
                </a:tc>
                <a:tc>
                  <a:txBody>
                    <a:bodyPr/>
                    <a:lstStyle/>
                    <a:p>
                      <a:r>
                        <a:rPr lang="en-US" sz="1400" b="1" dirty="0" smtClean="0"/>
                        <a:t>RMSE (Root Mean Sq. Error):</a:t>
                      </a:r>
                      <a:r>
                        <a:rPr lang="en-US" sz="1400" dirty="0" smtClean="0"/>
                        <a:t> </a:t>
                      </a:r>
                      <a:r>
                        <a:rPr lang="en-US" sz="1400" b="1" dirty="0" smtClean="0"/>
                        <a:t>7.95</a:t>
                      </a:r>
                      <a:r>
                        <a:rPr lang="en-US" sz="1400" dirty="0" smtClean="0"/>
                        <a:t> units</a:t>
                      </a:r>
                      <a:endParaRPr lang="en-US" sz="1400" dirty="0"/>
                    </a:p>
                  </a:txBody>
                  <a:tcPr/>
                </a:tc>
                <a:tc>
                  <a:txBody>
                    <a:bodyPr/>
                    <a:lstStyle/>
                    <a:p>
                      <a:r>
                        <a:rPr lang="en-US" sz="1400" b="1" dirty="0" smtClean="0"/>
                        <a:t>Placeholders</a:t>
                      </a:r>
                      <a:r>
                        <a:rPr lang="en-US" sz="1400" dirty="0" smtClean="0"/>
                        <a:t> for complex </a:t>
                      </a:r>
                      <a:r>
                        <a:rPr lang="en-US" sz="1400" b="1" dirty="0" smtClean="0"/>
                        <a:t>DAX Formulas</a:t>
                      </a:r>
                      <a:r>
                        <a:rPr lang="en-US" sz="1400" dirty="0" smtClean="0"/>
                        <a:t> used </a:t>
                      </a:r>
                      <a:r>
                        <a:rPr lang="en-US" sz="1400" dirty="0" smtClean="0"/>
                        <a:t>for </a:t>
                      </a:r>
                      <a:r>
                        <a:rPr lang="en-US" sz="1400" dirty="0" smtClean="0"/>
                        <a:t>measure creation.</a:t>
                      </a:r>
                      <a:endParaRPr lang="en-US" sz="1400" dirty="0"/>
                    </a:p>
                  </a:txBody>
                  <a:tcPr/>
                </a:tc>
                <a:extLst>
                  <a:ext uri="{0D108BD9-81ED-4DB2-BD59-A6C34878D82A}">
                    <a16:rowId xmlns:a16="http://schemas.microsoft.com/office/drawing/2014/main" val="4280298138"/>
                  </a:ext>
                </a:extLst>
              </a:tr>
              <a:tr h="1104595">
                <a:tc>
                  <a:txBody>
                    <a:bodyPr/>
                    <a:lstStyle/>
                    <a:p>
                      <a:endParaRPr lang="en-US"/>
                    </a:p>
                  </a:txBody>
                  <a:tcPr/>
                </a:tc>
                <a:tc>
                  <a:txBody>
                    <a:bodyPr/>
                    <a:lstStyle/>
                    <a:p>
                      <a:r>
                        <a:rPr lang="en-US" sz="1400" b="1" dirty="0" smtClean="0"/>
                        <a:t>MAPE (Mean Abs. Pct. Error):</a:t>
                      </a:r>
                      <a:r>
                        <a:rPr lang="en-US" sz="1400" dirty="0" smtClean="0"/>
                        <a:t> </a:t>
                      </a:r>
                      <a:r>
                        <a:rPr lang="en-US" sz="1400" b="1" dirty="0" smtClean="0"/>
                        <a:t>~4.5%</a:t>
                      </a:r>
                      <a:endParaRPr lang="en-US" sz="1400" dirty="0"/>
                    </a:p>
                  </a:txBody>
                  <a:tcPr/>
                </a:tc>
                <a:tc>
                  <a:txBody>
                    <a:bodyPr/>
                    <a:lstStyle/>
                    <a:p>
                      <a:endParaRPr lang="en-US" dirty="0"/>
                    </a:p>
                  </a:txBody>
                  <a:tcPr/>
                </a:tc>
                <a:extLst>
                  <a:ext uri="{0D108BD9-81ED-4DB2-BD59-A6C34878D82A}">
                    <a16:rowId xmlns:a16="http://schemas.microsoft.com/office/drawing/2014/main" val="3055465120"/>
                  </a:ext>
                </a:extLst>
              </a:tr>
            </a:tbl>
          </a:graphicData>
        </a:graphic>
      </p:graphicFrame>
      <p:sp>
        <p:nvSpPr>
          <p:cNvPr id="7" name="TextBox 6"/>
          <p:cNvSpPr txBox="1"/>
          <p:nvPr/>
        </p:nvSpPr>
        <p:spPr>
          <a:xfrm>
            <a:off x="289560" y="768096"/>
            <a:ext cx="8476488" cy="307777"/>
          </a:xfrm>
          <a:prstGeom prst="rect">
            <a:avLst/>
          </a:prstGeom>
          <a:noFill/>
        </p:spPr>
        <p:txBody>
          <a:bodyPr wrap="square" rtlCol="0">
            <a:spAutoFit/>
          </a:bodyPr>
          <a:lstStyle/>
          <a:p>
            <a:r>
              <a:rPr lang="en-US" sz="1400" dirty="0" smtClean="0"/>
              <a:t>This section is provided for a deeper technical review of the project architecture and model performance.</a:t>
            </a:r>
            <a:endParaRPr lang="en-US" sz="1400"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2724" y="4502029"/>
            <a:ext cx="3791479" cy="276264"/>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2724" y="4863692"/>
            <a:ext cx="2695951" cy="409632"/>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8790" y="4514956"/>
            <a:ext cx="3705742" cy="27626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9481" y="4934372"/>
            <a:ext cx="3705742" cy="295316"/>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02724" y="5564821"/>
            <a:ext cx="3419952" cy="257211"/>
          </a:xfrm>
          <a:prstGeom prst="rect">
            <a:avLst/>
          </a:prstGeom>
        </p:spPr>
      </p:pic>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53940" y="5552091"/>
            <a:ext cx="3581900" cy="295316"/>
          </a:xfrm>
          <a:prstGeom prst="rect">
            <a:avLst/>
          </a:prstGeom>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02724" y="5923808"/>
            <a:ext cx="2514951" cy="400106"/>
          </a:xfrm>
          <a:prstGeom prst="rect">
            <a:avLst/>
          </a:prstGeom>
        </p:spPr>
      </p:pic>
    </p:spTree>
    <p:extLst>
      <p:ext uri="{BB962C8B-B14F-4D97-AF65-F5344CB8AC3E}">
        <p14:creationId xmlns:p14="http://schemas.microsoft.com/office/powerpoint/2010/main" val="20020466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4">
      <a:dk1>
        <a:srgbClr val="0F172A"/>
      </a:dk1>
      <a:lt1>
        <a:srgbClr val="FAFAFA"/>
      </a:lt1>
      <a:dk2>
        <a:srgbClr val="1F2937"/>
      </a:dk2>
      <a:lt2>
        <a:srgbClr val="F1F5F9"/>
      </a:lt2>
      <a:accent1>
        <a:srgbClr val="2563EB"/>
      </a:accent1>
      <a:accent2>
        <a:srgbClr val="F97316"/>
      </a:accent2>
      <a:accent3>
        <a:srgbClr val="22C55E"/>
      </a:accent3>
      <a:accent4>
        <a:srgbClr val="6B7280"/>
      </a:accent4>
      <a:accent5>
        <a:srgbClr val="4F46E5"/>
      </a:accent5>
      <a:accent6>
        <a:srgbClr val="38BDF8"/>
      </a:accent6>
      <a:hlink>
        <a:srgbClr val="2563EB"/>
      </a:hlink>
      <a:folHlink>
        <a:srgbClr val="3730A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2586</Words>
  <Application>Microsoft Office PowerPoint</Application>
  <PresentationFormat>Widescreen</PresentationFormat>
  <Paragraphs>77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Microsoft Sans Serif</vt:lpstr>
      <vt:lpstr>Office Theme</vt:lpstr>
      <vt:lpstr>DEMAND FORECASTING </vt:lpstr>
      <vt:lpstr>Table Of Content</vt:lpstr>
      <vt:lpstr>Executive Summary</vt:lpstr>
      <vt:lpstr>Business Context</vt:lpstr>
      <vt:lpstr>Data Overview</vt:lpstr>
      <vt:lpstr>Modelling Approach</vt:lpstr>
      <vt:lpstr>PowerPoint Presentation</vt:lpstr>
      <vt:lpstr>Dashboard Overview</vt:lpstr>
      <vt:lpstr>PowerPoint Presentation</vt:lpstr>
      <vt:lpstr>Key Insights</vt:lpstr>
      <vt:lpstr>Recommendations</vt:lpstr>
      <vt:lpstr>Conclusion / Next Steps</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FORECASTING</dc:title>
  <dc:creator>USER</dc:creator>
  <cp:lastModifiedBy>USER</cp:lastModifiedBy>
  <cp:revision>39</cp:revision>
  <dcterms:created xsi:type="dcterms:W3CDTF">2025-11-06T11:25:59Z</dcterms:created>
  <dcterms:modified xsi:type="dcterms:W3CDTF">2025-11-08T10:29:43Z</dcterms:modified>
</cp:coreProperties>
</file>